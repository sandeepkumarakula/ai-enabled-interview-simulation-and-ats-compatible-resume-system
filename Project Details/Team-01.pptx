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29"/>
  </p:notesMasterIdLst>
  <p:sldIdLst>
    <p:sldId id="278" r:id="rId2"/>
    <p:sldId id="270" r:id="rId3"/>
    <p:sldId id="258" r:id="rId4"/>
    <p:sldId id="260" r:id="rId5"/>
    <p:sldId id="259" r:id="rId6"/>
    <p:sldId id="269" r:id="rId7"/>
    <p:sldId id="281" r:id="rId8"/>
    <p:sldId id="280" r:id="rId9"/>
    <p:sldId id="282" r:id="rId10"/>
    <p:sldId id="262" r:id="rId11"/>
    <p:sldId id="263" r:id="rId12"/>
    <p:sldId id="292" r:id="rId13"/>
    <p:sldId id="265" r:id="rId14"/>
    <p:sldId id="293" r:id="rId15"/>
    <p:sldId id="302" r:id="rId16"/>
    <p:sldId id="300" r:id="rId17"/>
    <p:sldId id="294" r:id="rId18"/>
    <p:sldId id="301" r:id="rId19"/>
    <p:sldId id="297" r:id="rId20"/>
    <p:sldId id="298" r:id="rId21"/>
    <p:sldId id="299" r:id="rId22"/>
    <p:sldId id="303" r:id="rId23"/>
    <p:sldId id="304" r:id="rId24"/>
    <p:sldId id="305" r:id="rId25"/>
    <p:sldId id="264" r:id="rId26"/>
    <p:sldId id="276" r:id="rId27"/>
    <p:sldId id="289"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11" userDrawn="1">
          <p15:clr>
            <a:srgbClr val="A4A3A4"/>
          </p15:clr>
        </p15:guide>
        <p15:guide id="2" pos="374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7407D"/>
    <a:srgbClr val="12344D"/>
    <a:srgbClr val="D707C8"/>
    <a:srgbClr val="800477"/>
    <a:srgbClr val="E66D17"/>
    <a:srgbClr val="C4580A"/>
    <a:srgbClr val="4826DC"/>
    <a:srgbClr val="A027E1"/>
    <a:srgbClr val="5826DD"/>
    <a:srgbClr val="FAFA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8EA011-7E6A-4AB7-A446-A790C7FB9535}" v="100" dt="2025-11-30T07:02:42.51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226" autoAdjust="0"/>
    <p:restoredTop sz="94660"/>
  </p:normalViewPr>
  <p:slideViewPr>
    <p:cSldViewPr snapToGrid="0">
      <p:cViewPr>
        <p:scale>
          <a:sx n="66" d="100"/>
          <a:sy n="66" d="100"/>
        </p:scale>
        <p:origin x="1454" y="317"/>
      </p:cViewPr>
      <p:guideLst>
        <p:guide orient="horz" pos="1911"/>
        <p:guide pos="374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DEEP KUMAR AKULA" userId="5633ab260176e189" providerId="LiveId" clId="{8ED69782-1418-485A-9350-72929506758C}"/>
    <pc:docChg chg="undo redo custSel addSld modSld">
      <pc:chgData name="SANDEEP KUMAR AKULA" userId="5633ab260176e189" providerId="LiveId" clId="{8ED69782-1418-485A-9350-72929506758C}" dt="2025-11-30T07:02:32.535" v="529" actId="14826"/>
      <pc:docMkLst>
        <pc:docMk/>
      </pc:docMkLst>
      <pc:sldChg chg="modSp mod">
        <pc:chgData name="SANDEEP KUMAR AKULA" userId="5633ab260176e189" providerId="LiveId" clId="{8ED69782-1418-485A-9350-72929506758C}" dt="2025-11-28T15:58:42.718" v="5" actId="1076"/>
        <pc:sldMkLst>
          <pc:docMk/>
          <pc:sldMk cId="1690956733" sldId="258"/>
        </pc:sldMkLst>
        <pc:spChg chg="mod">
          <ac:chgData name="SANDEEP KUMAR AKULA" userId="5633ab260176e189" providerId="LiveId" clId="{8ED69782-1418-485A-9350-72929506758C}" dt="2025-11-28T15:58:42.718" v="5" actId="1076"/>
          <ac:spMkLst>
            <pc:docMk/>
            <pc:sldMk cId="1690956733" sldId="258"/>
            <ac:spMk id="5" creationId="{EC0755DB-797A-501F-480A-2DCC04983E10}"/>
          </ac:spMkLst>
        </pc:spChg>
      </pc:sldChg>
      <pc:sldChg chg="modSp mod">
        <pc:chgData name="SANDEEP KUMAR AKULA" userId="5633ab260176e189" providerId="LiveId" clId="{8ED69782-1418-485A-9350-72929506758C}" dt="2025-11-28T16:06:49.546" v="187" actId="1076"/>
        <pc:sldMkLst>
          <pc:docMk/>
          <pc:sldMk cId="4271280276" sldId="259"/>
        </pc:sldMkLst>
        <pc:spChg chg="mod">
          <ac:chgData name="SANDEEP KUMAR AKULA" userId="5633ab260176e189" providerId="LiveId" clId="{8ED69782-1418-485A-9350-72929506758C}" dt="2025-11-28T16:06:49.546" v="187" actId="1076"/>
          <ac:spMkLst>
            <pc:docMk/>
            <pc:sldMk cId="4271280276" sldId="259"/>
            <ac:spMk id="3" creationId="{4156C279-35B8-E1AB-1B32-B7E1AC80FBA8}"/>
          </ac:spMkLst>
        </pc:spChg>
      </pc:sldChg>
      <pc:sldChg chg="modSp mod">
        <pc:chgData name="SANDEEP KUMAR AKULA" userId="5633ab260176e189" providerId="LiveId" clId="{8ED69782-1418-485A-9350-72929506758C}" dt="2025-11-28T16:01:31.483" v="164" actId="1076"/>
        <pc:sldMkLst>
          <pc:docMk/>
          <pc:sldMk cId="2390602407" sldId="260"/>
        </pc:sldMkLst>
        <pc:spChg chg="mod">
          <ac:chgData name="SANDEEP KUMAR AKULA" userId="5633ab260176e189" providerId="LiveId" clId="{8ED69782-1418-485A-9350-72929506758C}" dt="2025-11-28T16:01:31.483" v="164" actId="1076"/>
          <ac:spMkLst>
            <pc:docMk/>
            <pc:sldMk cId="2390602407" sldId="260"/>
            <ac:spMk id="4" creationId="{73A0AE0D-404A-B8A6-5A66-3D49C908FD95}"/>
          </ac:spMkLst>
        </pc:spChg>
      </pc:sldChg>
      <pc:sldChg chg="addSp modSp mod">
        <pc:chgData name="SANDEEP KUMAR AKULA" userId="5633ab260176e189" providerId="LiveId" clId="{8ED69782-1418-485A-9350-72929506758C}" dt="2025-11-28T16:40:22.594" v="333" actId="1076"/>
        <pc:sldMkLst>
          <pc:docMk/>
          <pc:sldMk cId="343893221" sldId="262"/>
        </pc:sldMkLst>
        <pc:spChg chg="mod">
          <ac:chgData name="SANDEEP KUMAR AKULA" userId="5633ab260176e189" providerId="LiveId" clId="{8ED69782-1418-485A-9350-72929506758C}" dt="2025-11-28T16:40:22.594" v="333" actId="1076"/>
          <ac:spMkLst>
            <pc:docMk/>
            <pc:sldMk cId="343893221" sldId="262"/>
            <ac:spMk id="2" creationId="{9198A4B7-6AAE-5CD7-CB4C-C2F17A0E98D8}"/>
          </ac:spMkLst>
        </pc:spChg>
      </pc:sldChg>
      <pc:sldChg chg="modSp mod">
        <pc:chgData name="SANDEEP KUMAR AKULA" userId="5633ab260176e189" providerId="LiveId" clId="{8ED69782-1418-485A-9350-72929506758C}" dt="2025-11-28T16:13:15.562" v="217" actId="1076"/>
        <pc:sldMkLst>
          <pc:docMk/>
          <pc:sldMk cId="2370561938" sldId="263"/>
        </pc:sldMkLst>
        <pc:spChg chg="mod">
          <ac:chgData name="SANDEEP KUMAR AKULA" userId="5633ab260176e189" providerId="LiveId" clId="{8ED69782-1418-485A-9350-72929506758C}" dt="2025-11-28T16:13:15.562" v="217" actId="1076"/>
          <ac:spMkLst>
            <pc:docMk/>
            <pc:sldMk cId="2370561938" sldId="263"/>
            <ac:spMk id="2" creationId="{4A05D2DB-8530-FE72-AD17-27169A4DAADE}"/>
          </ac:spMkLst>
        </pc:spChg>
      </pc:sldChg>
      <pc:sldChg chg="addSp modSp mod">
        <pc:chgData name="SANDEEP KUMAR AKULA" userId="5633ab260176e189" providerId="LiveId" clId="{8ED69782-1418-485A-9350-72929506758C}" dt="2025-11-28T16:11:34.232" v="214" actId="255"/>
        <pc:sldMkLst>
          <pc:docMk/>
          <pc:sldMk cId="3971946130" sldId="264"/>
        </pc:sldMkLst>
        <pc:spChg chg="mod">
          <ac:chgData name="SANDEEP KUMAR AKULA" userId="5633ab260176e189" providerId="LiveId" clId="{8ED69782-1418-485A-9350-72929506758C}" dt="2025-11-28T16:11:34.232" v="214" actId="255"/>
          <ac:spMkLst>
            <pc:docMk/>
            <pc:sldMk cId="3971946130" sldId="264"/>
            <ac:spMk id="3" creationId="{2B6BEEBD-F508-1F9E-1E6A-A23767283275}"/>
          </ac:spMkLst>
        </pc:spChg>
      </pc:sldChg>
      <pc:sldChg chg="modSp mod">
        <pc:chgData name="SANDEEP KUMAR AKULA" userId="5633ab260176e189" providerId="LiveId" clId="{8ED69782-1418-485A-9350-72929506758C}" dt="2025-11-28T16:25:23.406" v="263" actId="1076"/>
        <pc:sldMkLst>
          <pc:docMk/>
          <pc:sldMk cId="2172440898" sldId="280"/>
        </pc:sldMkLst>
        <pc:spChg chg="mod">
          <ac:chgData name="SANDEEP KUMAR AKULA" userId="5633ab260176e189" providerId="LiveId" clId="{8ED69782-1418-485A-9350-72929506758C}" dt="2025-11-28T16:25:23.406" v="263" actId="1076"/>
          <ac:spMkLst>
            <pc:docMk/>
            <pc:sldMk cId="2172440898" sldId="280"/>
            <ac:spMk id="4" creationId="{31704F8F-E33B-F410-270B-C45A9C9146BB}"/>
          </ac:spMkLst>
        </pc:spChg>
      </pc:sldChg>
      <pc:sldChg chg="addSp modSp mod">
        <pc:chgData name="SANDEEP KUMAR AKULA" userId="5633ab260176e189" providerId="LiveId" clId="{8ED69782-1418-485A-9350-72929506758C}" dt="2025-11-29T13:43:53.897" v="520" actId="11"/>
        <pc:sldMkLst>
          <pc:docMk/>
          <pc:sldMk cId="354768280" sldId="282"/>
        </pc:sldMkLst>
        <pc:spChg chg="mod">
          <ac:chgData name="SANDEEP KUMAR AKULA" userId="5633ab260176e189" providerId="LiveId" clId="{8ED69782-1418-485A-9350-72929506758C}" dt="2025-11-29T13:43:53.897" v="520" actId="11"/>
          <ac:spMkLst>
            <pc:docMk/>
            <pc:sldMk cId="354768280" sldId="282"/>
            <ac:spMk id="3" creationId="{A720007E-902C-92A8-0F0E-C5C40859CF1A}"/>
          </ac:spMkLst>
        </pc:spChg>
      </pc:sldChg>
      <pc:sldChg chg="modSp mod">
        <pc:chgData name="SANDEEP KUMAR AKULA" userId="5633ab260176e189" providerId="LiveId" clId="{8ED69782-1418-485A-9350-72929506758C}" dt="2025-11-29T13:44:36.733" v="523" actId="14"/>
        <pc:sldMkLst>
          <pc:docMk/>
          <pc:sldMk cId="603505640" sldId="292"/>
        </pc:sldMkLst>
        <pc:spChg chg="mod">
          <ac:chgData name="SANDEEP KUMAR AKULA" userId="5633ab260176e189" providerId="LiveId" clId="{8ED69782-1418-485A-9350-72929506758C}" dt="2025-11-29T13:44:36.733" v="523" actId="14"/>
          <ac:spMkLst>
            <pc:docMk/>
            <pc:sldMk cId="603505640" sldId="292"/>
            <ac:spMk id="3" creationId="{5BCAE3BB-B033-E917-FCAE-8EBDCA416280}"/>
          </ac:spMkLst>
        </pc:spChg>
      </pc:sldChg>
      <pc:sldChg chg="addSp delSp modSp new mod">
        <pc:chgData name="SANDEEP KUMAR AKULA" userId="5633ab260176e189" providerId="LiveId" clId="{8ED69782-1418-485A-9350-72929506758C}" dt="2025-11-28T17:01:45.559" v="437" actId="1076"/>
        <pc:sldMkLst>
          <pc:docMk/>
          <pc:sldMk cId="3709057818" sldId="293"/>
        </pc:sldMkLst>
        <pc:spChg chg="add mod">
          <ac:chgData name="SANDEEP KUMAR AKULA" userId="5633ab260176e189" providerId="LiveId" clId="{8ED69782-1418-485A-9350-72929506758C}" dt="2025-11-28T17:01:45.559" v="437" actId="1076"/>
          <ac:spMkLst>
            <pc:docMk/>
            <pc:sldMk cId="3709057818" sldId="293"/>
            <ac:spMk id="2" creationId="{985D0F54-6C0D-A823-C022-DE7ACB96ACBC}"/>
          </ac:spMkLst>
        </pc:spChg>
        <pc:picChg chg="add mod">
          <ac:chgData name="SANDEEP KUMAR AKULA" userId="5633ab260176e189" providerId="LiveId" clId="{8ED69782-1418-485A-9350-72929506758C}" dt="2025-11-28T16:56:36.781" v="403" actId="1076"/>
          <ac:picMkLst>
            <pc:docMk/>
            <pc:sldMk cId="3709057818" sldId="293"/>
            <ac:picMk id="6" creationId="{C9F5E994-F58D-8893-F601-22FFC29742E2}"/>
          </ac:picMkLst>
        </pc:picChg>
      </pc:sldChg>
      <pc:sldChg chg="addSp modSp new mod">
        <pc:chgData name="SANDEEP KUMAR AKULA" userId="5633ab260176e189" providerId="LiveId" clId="{8ED69782-1418-485A-9350-72929506758C}" dt="2025-11-29T13:40:56.323" v="513" actId="14100"/>
        <pc:sldMkLst>
          <pc:docMk/>
          <pc:sldMk cId="637563988" sldId="294"/>
        </pc:sldMkLst>
        <pc:spChg chg="add mod">
          <ac:chgData name="SANDEEP KUMAR AKULA" userId="5633ab260176e189" providerId="LiveId" clId="{8ED69782-1418-485A-9350-72929506758C}" dt="2025-11-28T16:57:29.464" v="424" actId="20577"/>
          <ac:spMkLst>
            <pc:docMk/>
            <pc:sldMk cId="637563988" sldId="294"/>
            <ac:spMk id="3" creationId="{F7895E63-EE16-0DE8-964C-46A1C0C93AEE}"/>
          </ac:spMkLst>
        </pc:spChg>
        <pc:picChg chg="add mod modCrop">
          <ac:chgData name="SANDEEP KUMAR AKULA" userId="5633ab260176e189" providerId="LiveId" clId="{8ED69782-1418-485A-9350-72929506758C}" dt="2025-11-29T13:40:56.323" v="513" actId="14100"/>
          <ac:picMkLst>
            <pc:docMk/>
            <pc:sldMk cId="637563988" sldId="294"/>
            <ac:picMk id="5" creationId="{AA92599D-AC8F-5BA2-EF34-DDBFF2C62B66}"/>
          </ac:picMkLst>
        </pc:picChg>
      </pc:sldChg>
      <pc:sldChg chg="addSp delSp modSp new mod">
        <pc:chgData name="SANDEEP KUMAR AKULA" userId="5633ab260176e189" providerId="LiveId" clId="{8ED69782-1418-485A-9350-72929506758C}" dt="2025-11-28T17:20:28.113" v="511" actId="1076"/>
        <pc:sldMkLst>
          <pc:docMk/>
          <pc:sldMk cId="66313134" sldId="295"/>
        </pc:sldMkLst>
        <pc:spChg chg="add mod">
          <ac:chgData name="SANDEEP KUMAR AKULA" userId="5633ab260176e189" providerId="LiveId" clId="{8ED69782-1418-485A-9350-72929506758C}" dt="2025-11-28T17:03:24.718" v="461" actId="1076"/>
          <ac:spMkLst>
            <pc:docMk/>
            <pc:sldMk cId="66313134" sldId="295"/>
            <ac:spMk id="3" creationId="{1A5C5EAF-157F-0FAF-AE27-75C17C758751}"/>
          </ac:spMkLst>
        </pc:spChg>
        <pc:picChg chg="add mod modCrop">
          <ac:chgData name="SANDEEP KUMAR AKULA" userId="5633ab260176e189" providerId="LiveId" clId="{8ED69782-1418-485A-9350-72929506758C}" dt="2025-11-28T17:20:28.113" v="511" actId="1076"/>
          <ac:picMkLst>
            <pc:docMk/>
            <pc:sldMk cId="66313134" sldId="295"/>
            <ac:picMk id="7" creationId="{DFE92B19-E722-55D7-8DC1-5BC8C071BD8A}"/>
          </ac:picMkLst>
        </pc:picChg>
      </pc:sldChg>
      <pc:sldChg chg="addSp modSp new mod">
        <pc:chgData name="SANDEEP KUMAR AKULA" userId="5633ab260176e189" providerId="LiveId" clId="{8ED69782-1418-485A-9350-72929506758C}" dt="2025-11-30T07:02:32.535" v="529" actId="14826"/>
        <pc:sldMkLst>
          <pc:docMk/>
          <pc:sldMk cId="3114597652" sldId="296"/>
        </pc:sldMkLst>
        <pc:spChg chg="add mod">
          <ac:chgData name="SANDEEP KUMAR AKULA" userId="5633ab260176e189" providerId="LiveId" clId="{8ED69782-1418-485A-9350-72929506758C}" dt="2025-11-28T17:03:19.540" v="460" actId="1076"/>
          <ac:spMkLst>
            <pc:docMk/>
            <pc:sldMk cId="3114597652" sldId="296"/>
            <ac:spMk id="3" creationId="{CEC81ACF-9903-CB66-62B1-BB9B53B00146}"/>
          </ac:spMkLst>
        </pc:spChg>
        <pc:picChg chg="add mod modCrop">
          <ac:chgData name="SANDEEP KUMAR AKULA" userId="5633ab260176e189" providerId="LiveId" clId="{8ED69782-1418-485A-9350-72929506758C}" dt="2025-11-30T07:02:32.535" v="529" actId="14826"/>
          <ac:picMkLst>
            <pc:docMk/>
            <pc:sldMk cId="3114597652" sldId="296"/>
            <ac:picMk id="5" creationId="{8F0D8207-F480-9C28-E439-1F24C6F6A8DF}"/>
          </ac:picMkLst>
        </pc:picChg>
      </pc:sldChg>
      <pc:sldChg chg="addSp delSp modSp new mod">
        <pc:chgData name="SANDEEP KUMAR AKULA" userId="5633ab260176e189" providerId="LiveId" clId="{8ED69782-1418-485A-9350-72929506758C}" dt="2025-11-28T17:04:33.645" v="494" actId="14100"/>
        <pc:sldMkLst>
          <pc:docMk/>
          <pc:sldMk cId="3210521371" sldId="297"/>
        </pc:sldMkLst>
        <pc:spChg chg="add mod">
          <ac:chgData name="SANDEEP KUMAR AKULA" userId="5633ab260176e189" providerId="LiveId" clId="{8ED69782-1418-485A-9350-72929506758C}" dt="2025-11-28T17:03:55.220" v="486" actId="1076"/>
          <ac:spMkLst>
            <pc:docMk/>
            <pc:sldMk cId="3210521371" sldId="297"/>
            <ac:spMk id="5" creationId="{789F156D-2BF8-53A3-5D7D-64EF253C4124}"/>
          </ac:spMkLst>
        </pc:spChg>
        <pc:picChg chg="add mod modCrop">
          <ac:chgData name="SANDEEP KUMAR AKULA" userId="5633ab260176e189" providerId="LiveId" clId="{8ED69782-1418-485A-9350-72929506758C}" dt="2025-11-28T17:04:33.645" v="494" actId="14100"/>
          <ac:picMkLst>
            <pc:docMk/>
            <pc:sldMk cId="3210521371" sldId="297"/>
            <ac:picMk id="7" creationId="{9C1FE1A5-2041-867F-A33D-0C3FFB993FA6}"/>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A31555-0312-4A60-A1B3-43FF89F7B521}" type="datetimeFigureOut">
              <a:rPr lang="en-IN" smtClean="0"/>
              <a:t>29-01-2026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E15416-C15F-4A5C-946F-E8BDF5CED3F0}" type="slidenum">
              <a:rPr lang="en-IN" smtClean="0"/>
              <a:t>‹#›</a:t>
            </a:fld>
            <a:endParaRPr lang="en-IN"/>
          </a:p>
        </p:txBody>
      </p:sp>
    </p:spTree>
    <p:extLst>
      <p:ext uri="{BB962C8B-B14F-4D97-AF65-F5344CB8AC3E}">
        <p14:creationId xmlns:p14="http://schemas.microsoft.com/office/powerpoint/2010/main" val="11566200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DE15416-C15F-4A5C-946F-E8BDF5CED3F0}" type="slidenum">
              <a:rPr lang="en-IN" smtClean="0"/>
              <a:t>1</a:t>
            </a:fld>
            <a:endParaRPr lang="en-IN"/>
          </a:p>
        </p:txBody>
      </p:sp>
    </p:spTree>
    <p:extLst>
      <p:ext uri="{BB962C8B-B14F-4D97-AF65-F5344CB8AC3E}">
        <p14:creationId xmlns:p14="http://schemas.microsoft.com/office/powerpoint/2010/main" val="20055584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DE15416-C15F-4A5C-946F-E8BDF5CED3F0}" type="slidenum">
              <a:rPr lang="en-IN" smtClean="0"/>
              <a:t>16</a:t>
            </a:fld>
            <a:endParaRPr lang="en-IN"/>
          </a:p>
        </p:txBody>
      </p:sp>
    </p:spTree>
    <p:extLst>
      <p:ext uri="{BB962C8B-B14F-4D97-AF65-F5344CB8AC3E}">
        <p14:creationId xmlns:p14="http://schemas.microsoft.com/office/powerpoint/2010/main" val="32701367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89" name="Group 88"/>
          <p:cNvGrpSpPr/>
          <p:nvPr/>
        </p:nvGrpSpPr>
        <p:grpSpPr>
          <a:xfrm>
            <a:off x="-329674" y="-59376"/>
            <a:ext cx="12515851" cy="6923798"/>
            <a:chOff x="-329674" y="-51881"/>
            <a:chExt cx="12515851" cy="6923798"/>
          </a:xfrm>
        </p:grpSpPr>
        <p:sp>
          <p:nvSpPr>
            <p:cNvPr id="90"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3"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0"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1"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2"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3"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4"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5"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6"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7"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8"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1669293" y="1186483"/>
            <a:ext cx="8848345" cy="4477933"/>
            <a:chOff x="1669293" y="1186483"/>
            <a:chExt cx="8848345" cy="4477933"/>
          </a:xfrm>
        </p:grpSpPr>
        <p:sp>
          <p:nvSpPr>
            <p:cNvPr id="39" name="Rectangle 38"/>
            <p:cNvSpPr/>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1" name="Rectangle 40"/>
            <p:cNvSpPr/>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48A87A34-81AB-432B-8DAE-1953F412C126}" type="datetimeFigureOut">
              <a:rPr lang="en-US" dirty="0"/>
              <a:pPr/>
              <a:t>1/29/2026</a:t>
            </a:fld>
            <a:endParaRPr lang="en-US"/>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a:p>
        </p:txBody>
      </p:sp>
      <p:sp>
        <p:nvSpPr>
          <p:cNvPr id="6" name="Slide Number Placeholder 5"/>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a:p>
        </p:txBody>
      </p:sp>
    </p:spTree>
    <p:extLst>
      <p:ext uri="{BB962C8B-B14F-4D97-AF65-F5344CB8AC3E}">
        <p14:creationId xmlns:p14="http://schemas.microsoft.com/office/powerpoint/2010/main" val="26844887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80" name="Group 79"/>
          <p:cNvGrpSpPr/>
          <p:nvPr/>
        </p:nvGrpSpPr>
        <p:grpSpPr>
          <a:xfrm>
            <a:off x="-417513"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7" name="Group 26"/>
          <p:cNvGrpSpPr/>
          <p:nvPr/>
        </p:nvGrpSpPr>
        <p:grpSpPr>
          <a:xfrm>
            <a:off x="800144" y="1699589"/>
            <a:ext cx="3674476" cy="3470421"/>
            <a:chOff x="697883" y="1816768"/>
            <a:chExt cx="3674476" cy="3470421"/>
          </a:xfrm>
        </p:grpSpPr>
        <p:sp>
          <p:nvSpPr>
            <p:cNvPr id="28" name="Rectangle 27"/>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9"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Rectangle 29"/>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49925"/>
            <a:ext cx="3498979" cy="2456442"/>
          </a:xfrm>
        </p:spPr>
        <p:txBody>
          <a:bodyPr/>
          <a:lstStyle>
            <a:lvl1pPr>
              <a:defRPr>
                <a:solidFill>
                  <a:srgbClr val="FFFEFF"/>
                </a:solidFill>
              </a:defRPr>
            </a:lvl1pPr>
          </a:lstStyle>
          <a:p>
            <a:r>
              <a:rPr lang="en-US"/>
              <a:t>Click to edit Master title style</a:t>
            </a:r>
          </a:p>
        </p:txBody>
      </p:sp>
      <p:sp>
        <p:nvSpPr>
          <p:cNvPr id="3" name="Content Placeholder 2"/>
          <p:cNvSpPr>
            <a:spLocks noGrp="1"/>
          </p:cNvSpPr>
          <p:nvPr>
            <p:ph idx="1"/>
          </p:nvPr>
        </p:nvSpPr>
        <p:spPr>
          <a:xfrm>
            <a:off x="5118447" y="803186"/>
            <a:ext cx="6281873" cy="5248622"/>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8A87A34-81AB-432B-8DAE-1953F412C126}" type="datetimeFigureOut">
              <a:rPr lang="en-US" dirty="0"/>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spTree>
    <p:extLst>
      <p:ext uri="{BB962C8B-B14F-4D97-AF65-F5344CB8AC3E}">
        <p14:creationId xmlns:p14="http://schemas.microsoft.com/office/powerpoint/2010/main" val="11799999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77" name="Group 76"/>
          <p:cNvGrpSpPr/>
          <p:nvPr/>
        </p:nvGrpSpPr>
        <p:grpSpPr>
          <a:xfrm>
            <a:off x="-329674" y="-59376"/>
            <a:ext cx="12515851" cy="6923798"/>
            <a:chOff x="-329674" y="-51881"/>
            <a:chExt cx="12515851" cy="6923798"/>
          </a:xfrm>
        </p:grpSpPr>
        <p:sp>
          <p:nvSpPr>
            <p:cNvPr id="78"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3259545" y="1186483"/>
            <a:ext cx="5666145" cy="4477933"/>
            <a:chOff x="3259545" y="1186483"/>
            <a:chExt cx="5666145" cy="4477933"/>
          </a:xfrm>
        </p:grpSpPr>
        <p:sp>
          <p:nvSpPr>
            <p:cNvPr id="99" name="Rectangle 98"/>
            <p:cNvSpPr/>
            <p:nvPr/>
          </p:nvSpPr>
          <p:spPr>
            <a:xfrm>
              <a:off x="3259545" y="1186483"/>
              <a:ext cx="5657881"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1" name="Rectangle 100"/>
            <p:cNvSpPr/>
            <p:nvPr/>
          </p:nvSpPr>
          <p:spPr>
            <a:xfrm>
              <a:off x="3259545" y="1991156"/>
              <a:ext cx="5666145"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3344216" y="2074730"/>
            <a:ext cx="5490224" cy="1689390"/>
          </a:xfrm>
        </p:spPr>
        <p:txBody>
          <a:bodyPr bIns="0" anchor="b">
            <a:normAutofit/>
          </a:bodyPr>
          <a:lstStyle>
            <a:lvl1pPr algn="ctr">
              <a:defRPr sz="4400">
                <a:solidFill>
                  <a:srgbClr val="FFFEFF"/>
                </a:solidFill>
              </a:defRPr>
            </a:lvl1pPr>
          </a:lstStyle>
          <a:p>
            <a:r>
              <a:rPr lang="en-US"/>
              <a:t>Click to edit Master title style</a:t>
            </a:r>
          </a:p>
        </p:txBody>
      </p:sp>
      <p:sp>
        <p:nvSpPr>
          <p:cNvPr id="3" name="Text Placeholder 2"/>
          <p:cNvSpPr>
            <a:spLocks noGrp="1"/>
          </p:cNvSpPr>
          <p:nvPr>
            <p:ph type="body" idx="1"/>
          </p:nvPr>
        </p:nvSpPr>
        <p:spPr>
          <a:xfrm>
            <a:off x="3344215" y="3846851"/>
            <a:ext cx="5490223" cy="1383770"/>
          </a:xfrm>
        </p:spPr>
        <p:txBody>
          <a:bodyPr tIns="0">
            <a:normAutofit/>
          </a:bodyPr>
          <a:lstStyle>
            <a:lvl1pPr marL="0" indent="0" algn="ctr">
              <a:buNone/>
              <a:defRPr sz="1800">
                <a:solidFill>
                  <a:srgbClr val="FFFEFF"/>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04672" y="320040"/>
            <a:ext cx="3657600" cy="320040"/>
          </a:xfrm>
        </p:spPr>
        <p:txBody>
          <a:bodyPr/>
          <a:lstStyle/>
          <a:p>
            <a:fld id="{48A87A34-81AB-432B-8DAE-1953F412C126}" type="datetimeFigureOut">
              <a:rPr lang="en-US" dirty="0"/>
              <a:t>1/29/2026</a:t>
            </a:fld>
            <a:endParaRPr lang="en-US"/>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a:p>
        </p:txBody>
      </p:sp>
      <p:sp>
        <p:nvSpPr>
          <p:cNvPr id="6" name="Slide Number Placeholder 5"/>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a:p>
        </p:txBody>
      </p:sp>
    </p:spTree>
    <p:extLst>
      <p:ext uri="{BB962C8B-B14F-4D97-AF65-F5344CB8AC3E}">
        <p14:creationId xmlns:p14="http://schemas.microsoft.com/office/powerpoint/2010/main" val="2451435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37" name="Group 36"/>
          <p:cNvGrpSpPr/>
          <p:nvPr/>
        </p:nvGrpSpPr>
        <p:grpSpPr>
          <a:xfrm>
            <a:off x="-417513" y="0"/>
            <a:ext cx="12584114" cy="6853238"/>
            <a:chOff x="-417513" y="0"/>
            <a:chExt cx="12584114" cy="6853238"/>
          </a:xfrm>
        </p:grpSpPr>
        <p:sp>
          <p:nvSpPr>
            <p:cNvPr id="3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59" name="Group 58"/>
          <p:cNvGrpSpPr/>
          <p:nvPr/>
        </p:nvGrpSpPr>
        <p:grpSpPr>
          <a:xfrm>
            <a:off x="800144" y="1699589"/>
            <a:ext cx="3674476" cy="3470421"/>
            <a:chOff x="697883" y="1816768"/>
            <a:chExt cx="3674476" cy="3470421"/>
          </a:xfrm>
        </p:grpSpPr>
        <p:sp>
          <p:nvSpPr>
            <p:cNvPr id="60" name="Rectangle 59"/>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 name="Rectangle 61"/>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0" y="2339669"/>
            <a:ext cx="3500828" cy="2470065"/>
          </a:xfrm>
        </p:spPr>
        <p:txBody>
          <a:bodyPr lIns="91440" tIns="91440" rIns="91440" bIns="91440"/>
          <a:lstStyle>
            <a:lvl1pPr>
              <a:defRPr>
                <a:solidFill>
                  <a:srgbClr val="FFFEFF"/>
                </a:solidFill>
              </a:defRPr>
            </a:lvl1pPr>
          </a:lstStyle>
          <a:p>
            <a:r>
              <a:rPr lang="en-US"/>
              <a:t>Click to edit Master title style</a:t>
            </a:r>
          </a:p>
        </p:txBody>
      </p:sp>
      <p:sp>
        <p:nvSpPr>
          <p:cNvPr id="3" name="Content Placeholder 2"/>
          <p:cNvSpPr>
            <a:spLocks noGrp="1"/>
          </p:cNvSpPr>
          <p:nvPr>
            <p:ph sz="half" idx="1"/>
          </p:nvPr>
        </p:nvSpPr>
        <p:spPr>
          <a:xfrm>
            <a:off x="5120878" y="803187"/>
            <a:ext cx="6269591" cy="23826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18447" y="3672162"/>
            <a:ext cx="6272022" cy="23835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04672" y="320040"/>
            <a:ext cx="3657600" cy="320040"/>
          </a:xfrm>
        </p:spPr>
        <p:txBody>
          <a:bodyPr/>
          <a:lstStyle/>
          <a:p>
            <a:fld id="{48A87A34-81AB-432B-8DAE-1953F412C126}" type="datetimeFigureOut">
              <a:rPr lang="en-US" dirty="0"/>
              <a:t>1/29/2026</a:t>
            </a:fld>
            <a:endParaRPr lang="en-US"/>
          </a:p>
        </p:txBody>
      </p:sp>
      <p:sp>
        <p:nvSpPr>
          <p:cNvPr id="6" name="Footer Placeholder 5"/>
          <p:cNvSpPr>
            <a:spLocks noGrp="1"/>
          </p:cNvSpPr>
          <p:nvPr>
            <p:ph type="ftr" sz="quarter" idx="11"/>
          </p:nvPr>
        </p:nvSpPr>
        <p:spPr>
          <a:xfrm>
            <a:off x="804672" y="6227064"/>
            <a:ext cx="10588752" cy="320040"/>
          </a:xfrm>
        </p:spPr>
        <p:txBody>
          <a:bodyPr/>
          <a:lstStyle/>
          <a:p>
            <a:endParaRPr lang="en-US"/>
          </a:p>
        </p:txBody>
      </p:sp>
      <p:sp>
        <p:nvSpPr>
          <p:cNvPr id="7" name="Slide Number Placeholder 6"/>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a:p>
        </p:txBody>
      </p:sp>
    </p:spTree>
    <p:extLst>
      <p:ext uri="{BB962C8B-B14F-4D97-AF65-F5344CB8AC3E}">
        <p14:creationId xmlns:p14="http://schemas.microsoft.com/office/powerpoint/2010/main" val="14181527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39" name="Group 38"/>
          <p:cNvGrpSpPr/>
          <p:nvPr/>
        </p:nvGrpSpPr>
        <p:grpSpPr>
          <a:xfrm>
            <a:off x="-417513" y="0"/>
            <a:ext cx="12584114" cy="6853238"/>
            <a:chOff x="-417513" y="0"/>
            <a:chExt cx="12584114" cy="6853238"/>
          </a:xfrm>
        </p:grpSpPr>
        <p:sp>
          <p:nvSpPr>
            <p:cNvPr id="40"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2"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5"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6"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4"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5"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6"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7"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9"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0"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61" name="Group 60"/>
          <p:cNvGrpSpPr/>
          <p:nvPr/>
        </p:nvGrpSpPr>
        <p:grpSpPr>
          <a:xfrm>
            <a:off x="800144" y="1699589"/>
            <a:ext cx="3674476" cy="3470421"/>
            <a:chOff x="697883" y="1816768"/>
            <a:chExt cx="3674476" cy="3470421"/>
          </a:xfrm>
        </p:grpSpPr>
        <p:sp>
          <p:nvSpPr>
            <p:cNvPr id="62" name="Rectangle 6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 name="Rectangle 63"/>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1" y="2363915"/>
            <a:ext cx="3500828" cy="2460497"/>
          </a:xfrm>
        </p:spPr>
        <p:txBody>
          <a:bodyPr lIns="91440" tIns="91440" rIns="91440" bIns="91440"/>
          <a:lstStyle>
            <a:lvl1pPr>
              <a:defRPr>
                <a:solidFill>
                  <a:srgbClr val="FFFEFF"/>
                </a:solidFill>
              </a:defRPr>
            </a:lvl1pPr>
          </a:lstStyle>
          <a:p>
            <a:r>
              <a:rPr lang="en-US"/>
              <a:t>Click to edit Master title style</a:t>
            </a:r>
          </a:p>
        </p:txBody>
      </p:sp>
      <p:sp>
        <p:nvSpPr>
          <p:cNvPr id="3" name="Text Placeholder 2"/>
          <p:cNvSpPr>
            <a:spLocks noGrp="1"/>
          </p:cNvSpPr>
          <p:nvPr>
            <p:ph type="body" idx="1"/>
          </p:nvPr>
        </p:nvSpPr>
        <p:spPr>
          <a:xfrm>
            <a:off x="5125137" y="803185"/>
            <a:ext cx="6265088"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125305" y="1488985"/>
            <a:ext cx="6264350" cy="16968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118653" y="3665887"/>
            <a:ext cx="6264414"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118447" y="4351687"/>
            <a:ext cx="6265588" cy="17040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04672" y="320040"/>
            <a:ext cx="3657600" cy="320040"/>
          </a:xfrm>
        </p:spPr>
        <p:txBody>
          <a:bodyPr/>
          <a:lstStyle/>
          <a:p>
            <a:fld id="{48A87A34-81AB-432B-8DAE-1953F412C126}" type="datetimeFigureOut">
              <a:rPr lang="en-US" dirty="0"/>
              <a:t>1/29/2026</a:t>
            </a:fld>
            <a:endParaRPr lang="en-US"/>
          </a:p>
        </p:txBody>
      </p:sp>
      <p:sp>
        <p:nvSpPr>
          <p:cNvPr id="8" name="Footer Placeholder 7"/>
          <p:cNvSpPr>
            <a:spLocks noGrp="1"/>
          </p:cNvSpPr>
          <p:nvPr>
            <p:ph type="ftr" sz="quarter" idx="11"/>
          </p:nvPr>
        </p:nvSpPr>
        <p:spPr>
          <a:xfrm>
            <a:off x="804672" y="6227064"/>
            <a:ext cx="10588752" cy="320040"/>
          </a:xfrm>
        </p:spPr>
        <p:txBody>
          <a:bodyPr/>
          <a:lstStyle/>
          <a:p>
            <a:endParaRPr lang="en-US"/>
          </a:p>
        </p:txBody>
      </p:sp>
      <p:sp>
        <p:nvSpPr>
          <p:cNvPr id="9" name="Slide Number Placeholder 8"/>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a:p>
        </p:txBody>
      </p:sp>
    </p:spTree>
    <p:extLst>
      <p:ext uri="{BB962C8B-B14F-4D97-AF65-F5344CB8AC3E}">
        <p14:creationId xmlns:p14="http://schemas.microsoft.com/office/powerpoint/2010/main" val="19365396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77" name="Group 76"/>
          <p:cNvGrpSpPr/>
          <p:nvPr/>
        </p:nvGrpSpPr>
        <p:grpSpPr>
          <a:xfrm>
            <a:off x="-417513" y="0"/>
            <a:ext cx="12584114" cy="6853238"/>
            <a:chOff x="-417513" y="0"/>
            <a:chExt cx="12584114" cy="6853238"/>
          </a:xfrm>
        </p:grpSpPr>
        <p:sp>
          <p:nvSpPr>
            <p:cNvPr id="7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4" name="Group 23"/>
          <p:cNvGrpSpPr/>
          <p:nvPr/>
        </p:nvGrpSpPr>
        <p:grpSpPr>
          <a:xfrm>
            <a:off x="800144" y="1699589"/>
            <a:ext cx="3674476" cy="3470421"/>
            <a:chOff x="697883" y="1816768"/>
            <a:chExt cx="3674476" cy="3470421"/>
          </a:xfrm>
        </p:grpSpPr>
        <p:sp>
          <p:nvSpPr>
            <p:cNvPr id="25" name="Rectangle 24"/>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2"/>
          </a:xfrm>
        </p:spPr>
        <p:txBody>
          <a:bodyPr/>
          <a:lstStyle>
            <a:lvl1pPr>
              <a:defRPr>
                <a:solidFill>
                  <a:srgbClr val="FFFEFF"/>
                </a:solidFill>
              </a:defRPr>
            </a:lvl1pPr>
          </a:lstStyle>
          <a:p>
            <a:r>
              <a:rPr lang="en-US"/>
              <a:t>Click to edit Master title style</a:t>
            </a:r>
          </a:p>
        </p:txBody>
      </p:sp>
      <p:sp>
        <p:nvSpPr>
          <p:cNvPr id="3" name="Date Placeholder 2"/>
          <p:cNvSpPr>
            <a:spLocks noGrp="1"/>
          </p:cNvSpPr>
          <p:nvPr>
            <p:ph type="dt" sz="half" idx="10"/>
          </p:nvPr>
        </p:nvSpPr>
        <p:spPr/>
        <p:txBody>
          <a:bodyPr/>
          <a:lstStyle/>
          <a:p>
            <a:fld id="{48A87A34-81AB-432B-8DAE-1953F412C126}" type="datetimeFigureOut">
              <a:rPr lang="en-US" dirty="0"/>
              <a:t>1/29/2026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a:p>
        </p:txBody>
      </p:sp>
    </p:spTree>
    <p:extLst>
      <p:ext uri="{BB962C8B-B14F-4D97-AF65-F5344CB8AC3E}">
        <p14:creationId xmlns:p14="http://schemas.microsoft.com/office/powerpoint/2010/main" val="17183463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04672" y="320040"/>
            <a:ext cx="3657600" cy="320040"/>
          </a:xfrm>
        </p:spPr>
        <p:txBody>
          <a:bodyPr/>
          <a:lstStyle/>
          <a:p>
            <a:fld id="{48A87A34-81AB-432B-8DAE-1953F412C126}" type="datetimeFigureOut">
              <a:rPr lang="en-US" dirty="0"/>
              <a:t>1/29/2026</a:t>
            </a:fld>
            <a:endParaRPr lang="en-US"/>
          </a:p>
        </p:txBody>
      </p:sp>
      <p:sp>
        <p:nvSpPr>
          <p:cNvPr id="3" name="Footer Placeholder 2"/>
          <p:cNvSpPr>
            <a:spLocks noGrp="1"/>
          </p:cNvSpPr>
          <p:nvPr>
            <p:ph type="ftr" sz="quarter" idx="11"/>
          </p:nvPr>
        </p:nvSpPr>
        <p:spPr>
          <a:xfrm>
            <a:off x="804672" y="6227064"/>
            <a:ext cx="10588752" cy="320040"/>
          </a:xfrm>
        </p:spPr>
        <p:txBody>
          <a:bodyPr/>
          <a:lstStyle/>
          <a:p>
            <a:endParaRPr lang="en-US"/>
          </a:p>
        </p:txBody>
      </p:sp>
      <p:sp>
        <p:nvSpPr>
          <p:cNvPr id="4" name="Slide Number Placeholder 3"/>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a:p>
        </p:txBody>
      </p:sp>
    </p:spTree>
    <p:extLst>
      <p:ext uri="{BB962C8B-B14F-4D97-AF65-F5344CB8AC3E}">
        <p14:creationId xmlns:p14="http://schemas.microsoft.com/office/powerpoint/2010/main" val="22581534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74" name="Group 73"/>
          <p:cNvGrpSpPr/>
          <p:nvPr/>
        </p:nvGrpSpPr>
        <p:grpSpPr>
          <a:xfrm>
            <a:off x="-417513" y="0"/>
            <a:ext cx="12584114" cy="6853238"/>
            <a:chOff x="-417513" y="0"/>
            <a:chExt cx="12584114" cy="6853238"/>
          </a:xfrm>
        </p:grpSpPr>
        <p:sp>
          <p:nvSpPr>
            <p:cNvPr id="75"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6"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9"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1"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2"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1" name="Group 20"/>
          <p:cNvGrpSpPr/>
          <p:nvPr/>
        </p:nvGrpSpPr>
        <p:grpSpPr>
          <a:xfrm>
            <a:off x="800144" y="1699589"/>
            <a:ext cx="3674476" cy="3470421"/>
            <a:chOff x="697883" y="1816768"/>
            <a:chExt cx="3674476" cy="3470421"/>
          </a:xfrm>
        </p:grpSpPr>
        <p:sp>
          <p:nvSpPr>
            <p:cNvPr id="22" name="Rectangle 2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2"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Rectangle 32"/>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52026"/>
            <a:ext cx="3501197" cy="1223298"/>
          </a:xfrm>
        </p:spPr>
        <p:txBody>
          <a:bodyPr bIns="0" anchor="b">
            <a:noAutofit/>
          </a:bodyPr>
          <a:lstStyle>
            <a:lvl1pPr algn="ctr">
              <a:defRPr sz="3200">
                <a:solidFill>
                  <a:srgbClr val="FFFEFF"/>
                </a:solidFill>
              </a:defRPr>
            </a:lvl1pPr>
          </a:lstStyle>
          <a:p>
            <a:r>
              <a:rPr lang="en-US"/>
              <a:t>Click to edit Master title style</a:t>
            </a:r>
          </a:p>
        </p:txBody>
      </p:sp>
      <p:sp>
        <p:nvSpPr>
          <p:cNvPr id="3" name="Content Placeholder 2"/>
          <p:cNvSpPr>
            <a:spLocks noGrp="1"/>
          </p:cNvSpPr>
          <p:nvPr>
            <p:ph idx="1"/>
          </p:nvPr>
        </p:nvSpPr>
        <p:spPr>
          <a:xfrm>
            <a:off x="5109983" y="802809"/>
            <a:ext cx="6275035" cy="524994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88631" y="3580186"/>
            <a:ext cx="3501197" cy="1221164"/>
          </a:xfrm>
        </p:spPr>
        <p:txBody>
          <a:bodyPr/>
          <a:lstStyle>
            <a:lvl1pPr marL="0" indent="0" algn="ctr">
              <a:buNone/>
              <a:defRPr sz="16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spTree>
    <p:extLst>
      <p:ext uri="{BB962C8B-B14F-4D97-AF65-F5344CB8AC3E}">
        <p14:creationId xmlns:p14="http://schemas.microsoft.com/office/powerpoint/2010/main" val="4041969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73" name="Group 72"/>
          <p:cNvGrpSpPr/>
          <p:nvPr/>
        </p:nvGrpSpPr>
        <p:grpSpPr>
          <a:xfrm>
            <a:off x="-329674" y="-59376"/>
            <a:ext cx="12515851" cy="6923798"/>
            <a:chOff x="-329674" y="-51881"/>
            <a:chExt cx="12515851" cy="6923798"/>
          </a:xfrm>
        </p:grpSpPr>
        <p:sp>
          <p:nvSpPr>
            <p:cNvPr id="81"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76" name="Group 75"/>
          <p:cNvGrpSpPr/>
          <p:nvPr/>
        </p:nvGrpSpPr>
        <p:grpSpPr>
          <a:xfrm>
            <a:off x="805336" y="1698331"/>
            <a:ext cx="5941540" cy="3470421"/>
            <a:chOff x="805336" y="1698331"/>
            <a:chExt cx="5941540" cy="3470421"/>
          </a:xfrm>
        </p:grpSpPr>
        <p:sp>
          <p:nvSpPr>
            <p:cNvPr id="77" name="Rectangle 76"/>
            <p:cNvSpPr/>
            <p:nvPr/>
          </p:nvSpPr>
          <p:spPr>
            <a:xfrm>
              <a:off x="805336" y="1698331"/>
              <a:ext cx="5941540"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 name="Isosceles Triangle 9"/>
            <p:cNvSpPr/>
            <p:nvPr/>
          </p:nvSpPr>
          <p:spPr>
            <a:xfrm rot="10800000">
              <a:off x="3618113" y="4896349"/>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 name="Rectangle 78"/>
            <p:cNvSpPr/>
            <p:nvPr/>
          </p:nvSpPr>
          <p:spPr>
            <a:xfrm>
              <a:off x="805336" y="2274403"/>
              <a:ext cx="5941540"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3" name="Picture Placeholder 2"/>
          <p:cNvSpPr>
            <a:spLocks noGrp="1" noChangeAspect="1"/>
          </p:cNvSpPr>
          <p:nvPr>
            <p:ph type="pic" idx="1"/>
          </p:nvPr>
        </p:nvSpPr>
        <p:spPr>
          <a:xfrm>
            <a:off x="7543510" y="0"/>
            <a:ext cx="4648490" cy="6858000"/>
          </a:xfrm>
          <a:solidFill>
            <a:schemeClr val="bg1">
              <a:lumMod val="65000"/>
              <a:lumOff val="3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2" name="Title 1"/>
          <p:cNvSpPr>
            <a:spLocks noGrp="1"/>
          </p:cNvSpPr>
          <p:nvPr>
            <p:ph type="title"/>
          </p:nvPr>
        </p:nvSpPr>
        <p:spPr>
          <a:xfrm>
            <a:off x="885443" y="2360255"/>
            <a:ext cx="5776646" cy="1178032"/>
          </a:xfrm>
        </p:spPr>
        <p:txBody>
          <a:bodyPr bIns="0" anchor="b">
            <a:normAutofit/>
          </a:bodyPr>
          <a:lstStyle>
            <a:lvl1pPr>
              <a:defRPr sz="3600">
                <a:solidFill>
                  <a:srgbClr val="FFFEFF"/>
                </a:solidFill>
              </a:defRPr>
            </a:lvl1pPr>
          </a:lstStyle>
          <a:p>
            <a:r>
              <a:rPr lang="en-US"/>
              <a:t>Click to edit Master title style</a:t>
            </a:r>
          </a:p>
        </p:txBody>
      </p:sp>
      <p:sp>
        <p:nvSpPr>
          <p:cNvPr id="4" name="Text Placeholder 3"/>
          <p:cNvSpPr>
            <a:spLocks noGrp="1"/>
          </p:cNvSpPr>
          <p:nvPr>
            <p:ph type="body" sz="half" idx="2"/>
          </p:nvPr>
        </p:nvSpPr>
        <p:spPr>
          <a:xfrm>
            <a:off x="885443" y="3545012"/>
            <a:ext cx="5776646" cy="1274198"/>
          </a:xfrm>
        </p:spPr>
        <p:txBody>
          <a:bodyPr>
            <a:normAutofit/>
          </a:bodyPr>
          <a:lstStyle>
            <a:lvl1pPr marL="0" indent="0" algn="ctr">
              <a:buNone/>
              <a:defRPr sz="18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04672" y="320040"/>
            <a:ext cx="3657600" cy="320040"/>
          </a:xfrm>
        </p:spPr>
        <p:txBody>
          <a:bodyPr/>
          <a:lstStyle/>
          <a:p>
            <a:fld id="{48A87A34-81AB-432B-8DAE-1953F412C126}" type="datetimeFigureOut">
              <a:rPr lang="en-US" dirty="0"/>
              <a:t>1/29/2026</a:t>
            </a:fld>
            <a:endParaRPr lang="en-US"/>
          </a:p>
        </p:txBody>
      </p:sp>
      <p:sp>
        <p:nvSpPr>
          <p:cNvPr id="6" name="Footer Placeholder 5"/>
          <p:cNvSpPr>
            <a:spLocks noGrp="1"/>
          </p:cNvSpPr>
          <p:nvPr>
            <p:ph type="ftr" sz="quarter" idx="11"/>
          </p:nvPr>
        </p:nvSpPr>
        <p:spPr>
          <a:xfrm>
            <a:off x="804672" y="6227064"/>
            <a:ext cx="5942203" cy="320040"/>
          </a:xfrm>
        </p:spPr>
        <p:txBody>
          <a:bodyPr/>
          <a:lstStyle/>
          <a:p>
            <a:endParaRPr lang="en-US"/>
          </a:p>
        </p:txBody>
      </p:sp>
      <p:sp>
        <p:nvSpPr>
          <p:cNvPr id="7" name="Slide Number Placeholder 6"/>
          <p:cNvSpPr>
            <a:spLocks noGrp="1"/>
          </p:cNvSpPr>
          <p:nvPr>
            <p:ph type="sldNum" sz="quarter" idx="12"/>
          </p:nvPr>
        </p:nvSpPr>
        <p:spPr>
          <a:xfrm>
            <a:off x="5828377" y="320040"/>
            <a:ext cx="914400" cy="320040"/>
          </a:xfrm>
        </p:spPr>
        <p:txBody>
          <a:bodyPr/>
          <a:lstStyle/>
          <a:p>
            <a:fld id="{6D22F896-40B5-4ADD-8801-0D06FADFA095}" type="slidenum">
              <a:rPr lang="en-US" dirty="0"/>
              <a:t>‹#›</a:t>
            </a:fld>
            <a:endParaRPr lang="en-US"/>
          </a:p>
        </p:txBody>
      </p:sp>
    </p:spTree>
    <p:extLst>
      <p:ext uri="{BB962C8B-B14F-4D97-AF65-F5344CB8AC3E}">
        <p14:creationId xmlns:p14="http://schemas.microsoft.com/office/powerpoint/2010/main" val="30262047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75" name="Group 74"/>
          <p:cNvGrpSpPr/>
          <p:nvPr/>
        </p:nvGrpSpPr>
        <p:grpSpPr>
          <a:xfrm>
            <a:off x="-417513"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800144"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1"/>
          </a:xfrm>
        </p:spPr>
        <p:txBody>
          <a:bodyPr/>
          <a:lstStyle>
            <a:lvl1pPr>
              <a:defRPr>
                <a:solidFill>
                  <a:srgbClr val="FFFEFF"/>
                </a:solidFill>
              </a:defRPr>
            </a:lvl1pPr>
          </a:lstStyle>
          <a:p>
            <a:r>
              <a:rPr lang="en-US"/>
              <a:t>Click to edit Master title style</a:t>
            </a:r>
          </a:p>
        </p:txBody>
      </p:sp>
      <p:sp>
        <p:nvSpPr>
          <p:cNvPr id="3" name="Vertical Text Placeholder 2"/>
          <p:cNvSpPr>
            <a:spLocks noGrp="1"/>
          </p:cNvSpPr>
          <p:nvPr>
            <p:ph type="body" orient="vert" idx="1"/>
          </p:nvPr>
        </p:nvSpPr>
        <p:spPr>
          <a:xfrm>
            <a:off x="5109983" y="794719"/>
            <a:ext cx="6275035" cy="52570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8A87A34-81AB-432B-8DAE-1953F412C126}" type="datetimeFigureOut">
              <a:rPr lang="en-US" dirty="0"/>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spTree>
    <p:extLst>
      <p:ext uri="{BB962C8B-B14F-4D97-AF65-F5344CB8AC3E}">
        <p14:creationId xmlns:p14="http://schemas.microsoft.com/office/powerpoint/2010/main" val="12238879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75" name="Group 74"/>
          <p:cNvGrpSpPr/>
          <p:nvPr/>
        </p:nvGrpSpPr>
        <p:grpSpPr>
          <a:xfrm flipH="1">
            <a:off x="0"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7718948"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Vertical Title 1"/>
          <p:cNvSpPr>
            <a:spLocks noGrp="1"/>
          </p:cNvSpPr>
          <p:nvPr>
            <p:ph type="title" orient="vert"/>
          </p:nvPr>
        </p:nvSpPr>
        <p:spPr>
          <a:xfrm>
            <a:off x="7807437" y="2349925"/>
            <a:ext cx="3501195" cy="2456442"/>
          </a:xfrm>
        </p:spPr>
        <p:txBody>
          <a:bodyPr vert="eaVert"/>
          <a:lstStyle>
            <a:lvl1pPr algn="l">
              <a:lnSpc>
                <a:spcPct val="80000"/>
              </a:lnSpc>
              <a:defRPr>
                <a:solidFill>
                  <a:srgbClr val="FFFEFF"/>
                </a:solidFill>
              </a:defRPr>
            </a:lvl1pPr>
          </a:lstStyle>
          <a:p>
            <a:r>
              <a:rPr lang="en-US"/>
              <a:t>Click to edit Master title style</a:t>
            </a:r>
          </a:p>
        </p:txBody>
      </p:sp>
      <p:sp>
        <p:nvSpPr>
          <p:cNvPr id="3" name="Vertical Text Placeholder 2"/>
          <p:cNvSpPr>
            <a:spLocks noGrp="1"/>
          </p:cNvSpPr>
          <p:nvPr>
            <p:ph type="body" orient="vert" idx="1"/>
          </p:nvPr>
        </p:nvSpPr>
        <p:spPr>
          <a:xfrm>
            <a:off x="802747" y="798444"/>
            <a:ext cx="6268622" cy="525730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04672" y="320040"/>
            <a:ext cx="3657600" cy="320040"/>
          </a:xfrm>
        </p:spPr>
        <p:txBody>
          <a:bodyPr/>
          <a:lstStyle/>
          <a:p>
            <a:fld id="{48A87A34-81AB-432B-8DAE-1953F412C126}" type="datetimeFigureOut">
              <a:rPr lang="en-US" dirty="0"/>
              <a:t>1/29/2026</a:t>
            </a:fld>
            <a:endParaRPr lang="en-US"/>
          </a:p>
        </p:txBody>
      </p:sp>
      <p:sp>
        <p:nvSpPr>
          <p:cNvPr id="5" name="Footer Placeholder 4"/>
          <p:cNvSpPr>
            <a:spLocks noGrp="1"/>
          </p:cNvSpPr>
          <p:nvPr>
            <p:ph type="ftr" sz="quarter" idx="11"/>
          </p:nvPr>
        </p:nvSpPr>
        <p:spPr>
          <a:xfrm>
            <a:off x="804672" y="6227064"/>
            <a:ext cx="10588752" cy="320040"/>
          </a:xfrm>
        </p:spPr>
        <p:txBody>
          <a:bodyPr/>
          <a:lstStyle/>
          <a:p>
            <a:endParaRPr lang="en-US"/>
          </a:p>
        </p:txBody>
      </p:sp>
      <p:sp>
        <p:nvSpPr>
          <p:cNvPr id="6" name="Slide Number Placeholder 5"/>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a:p>
        </p:txBody>
      </p:sp>
    </p:spTree>
    <p:extLst>
      <p:ext uri="{BB962C8B-B14F-4D97-AF65-F5344CB8AC3E}">
        <p14:creationId xmlns:p14="http://schemas.microsoft.com/office/powerpoint/2010/main" val="19885934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91161" y="2358391"/>
            <a:ext cx="3498667" cy="2456485"/>
          </a:xfrm>
          <a:prstGeom prst="rect">
            <a:avLst/>
          </a:prstGeom>
        </p:spPr>
        <p:txBody>
          <a:bodyPr vert="horz" lIns="228600" tIns="228600" rIns="228600" bIns="228600" rtlCol="0" anchor="ctr">
            <a:normAutofit/>
          </a:bodyPr>
          <a:lstStyle/>
          <a:p>
            <a:r>
              <a:rPr lang="en-US"/>
              <a:t>Click to edit Master title style</a:t>
            </a:r>
          </a:p>
        </p:txBody>
      </p:sp>
      <p:sp>
        <p:nvSpPr>
          <p:cNvPr id="3" name="Text Placeholder 2"/>
          <p:cNvSpPr>
            <a:spLocks noGrp="1"/>
          </p:cNvSpPr>
          <p:nvPr>
            <p:ph type="body" idx="1"/>
          </p:nvPr>
        </p:nvSpPr>
        <p:spPr>
          <a:xfrm>
            <a:off x="5434982" y="794719"/>
            <a:ext cx="5950036" cy="525709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04672" y="320040"/>
            <a:ext cx="3657600" cy="320040"/>
          </a:xfrm>
          <a:prstGeom prst="rect">
            <a:avLst/>
          </a:prstGeom>
        </p:spPr>
        <p:txBody>
          <a:bodyPr vert="horz" lIns="91440" tIns="45720" rIns="91440" bIns="45720" rtlCol="0" anchor="ctr"/>
          <a:lstStyle>
            <a:lvl1pPr algn="l">
              <a:defRPr sz="1000">
                <a:solidFill>
                  <a:schemeClr val="tx1">
                    <a:tint val="75000"/>
                  </a:schemeClr>
                </a:solidFill>
              </a:defRPr>
            </a:lvl1pPr>
          </a:lstStyle>
          <a:p>
            <a:fld id="{48A87A34-81AB-432B-8DAE-1953F412C126}" type="datetimeFigureOut">
              <a:rPr lang="en-US" dirty="0"/>
              <a:pPr/>
              <a:t>1/29/2026</a:t>
            </a:fld>
            <a:endParaRPr lang="en-US"/>
          </a:p>
        </p:txBody>
      </p:sp>
      <p:sp>
        <p:nvSpPr>
          <p:cNvPr id="5" name="Footer Placeholder 4"/>
          <p:cNvSpPr>
            <a:spLocks noGrp="1"/>
          </p:cNvSpPr>
          <p:nvPr>
            <p:ph type="ftr" sz="quarter" idx="3"/>
          </p:nvPr>
        </p:nvSpPr>
        <p:spPr>
          <a:xfrm>
            <a:off x="804672" y="6227064"/>
            <a:ext cx="10588752" cy="320040"/>
          </a:xfrm>
          <a:prstGeom prst="rect">
            <a:avLst/>
          </a:prstGeom>
        </p:spPr>
        <p:txBody>
          <a:bodyPr vert="horz" lIns="91440" tIns="45720" rIns="91440" bIns="45720" rtlCol="0" anchor="ctr"/>
          <a:lstStyle>
            <a:lvl1pPr algn="r">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469880" y="320040"/>
            <a:ext cx="914400" cy="320040"/>
          </a:xfrm>
          <a:prstGeom prst="rect">
            <a:avLst/>
          </a:prstGeom>
        </p:spPr>
        <p:txBody>
          <a:bodyPr vert="horz" lIns="91440" tIns="45720" rIns="91440" bIns="45720" rtlCol="0" anchor="ctr"/>
          <a:lstStyle>
            <a:lvl1pPr algn="r">
              <a:defRPr sz="1000">
                <a:solidFill>
                  <a:schemeClr val="tx1">
                    <a:tint val="75000"/>
                  </a:schemeClr>
                </a:solidFill>
              </a:defRPr>
            </a:lvl1pPr>
          </a:lstStyle>
          <a:p>
            <a:fld id="{6D22F896-40B5-4ADD-8801-0D06FADFA095}" type="slidenum">
              <a:rPr lang="en-US" dirty="0"/>
              <a:pPr/>
              <a:t>‹#›</a:t>
            </a:fld>
            <a:endParaRPr lang="en-US"/>
          </a:p>
        </p:txBody>
      </p:sp>
    </p:spTree>
    <p:extLst>
      <p:ext uri="{BB962C8B-B14F-4D97-AF65-F5344CB8AC3E}">
        <p14:creationId xmlns:p14="http://schemas.microsoft.com/office/powerpoint/2010/main" val="95908035"/>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defTabSz="914400" rtl="0" eaLnBrk="1" latinLnBrk="0" hangingPunct="1">
        <a:lnSpc>
          <a:spcPct val="85000"/>
        </a:lnSpc>
        <a:spcBef>
          <a:spcPct val="0"/>
        </a:spcBef>
        <a:buNone/>
        <a:defRPr sz="4000" b="0" i="0" kern="1200" cap="none" spc="-15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FA6BAE2-9046-7E68-C334-AAD36BA794C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53451" y="159751"/>
            <a:ext cx="1816496" cy="1473737"/>
          </a:xfrm>
          <a:prstGeom prst="rect">
            <a:avLst/>
          </a:prstGeom>
        </p:spPr>
      </p:pic>
      <p:sp>
        <p:nvSpPr>
          <p:cNvPr id="17" name="Title 6">
            <a:extLst>
              <a:ext uri="{FF2B5EF4-FFF2-40B4-BE49-F238E27FC236}">
                <a16:creationId xmlns:a16="http://schemas.microsoft.com/office/drawing/2014/main" id="{B627E8FD-84C3-6511-8AF9-12905C6A1FE3}"/>
              </a:ext>
            </a:extLst>
          </p:cNvPr>
          <p:cNvSpPr txBox="1">
            <a:spLocks/>
          </p:cNvSpPr>
          <p:nvPr/>
        </p:nvSpPr>
        <p:spPr>
          <a:xfrm>
            <a:off x="0" y="1809398"/>
            <a:ext cx="13016887" cy="493573"/>
          </a:xfrm>
          <a:prstGeom prst="rect">
            <a:avLst/>
          </a:prstGeom>
        </p:spPr>
        <p:txBody>
          <a:bodyPr lIns="91440" tIns="45720" rIns="91440" bIns="45720" anchor="t">
            <a:normAutofit/>
          </a:bodyPr>
          <a:lstStyle>
            <a:lvl1pPr algn="ctr" defTabSz="914400" rtl="0" eaLnBrk="1" latinLnBrk="0" hangingPunct="1">
              <a:lnSpc>
                <a:spcPct val="85000"/>
              </a:lnSpc>
              <a:spcBef>
                <a:spcPct val="0"/>
              </a:spcBef>
              <a:buNone/>
              <a:defRPr sz="4000" b="0" i="0" kern="1200" cap="none" spc="-150">
                <a:solidFill>
                  <a:schemeClr val="tx1"/>
                </a:solidFill>
                <a:effectLst/>
                <a:latin typeface="+mj-lt"/>
                <a:ea typeface="+mj-ea"/>
                <a:cs typeface="+mj-cs"/>
              </a:defRPr>
            </a:lvl1pPr>
          </a:lstStyle>
          <a:p>
            <a:r>
              <a:rPr lang="en-IN" sz="2800" b="1" u="sng" dirty="0">
                <a:latin typeface="Times New Roman" panose="02020603050405020304" pitchFamily="18" charset="0"/>
                <a:cs typeface="Times New Roman" panose="02020603050405020304" pitchFamily="18" charset="0"/>
              </a:rPr>
              <a:t>Department of Computer Science and Engineering</a:t>
            </a:r>
            <a:endParaRPr lang="en-US" sz="2800" b="1" u="sng" dirty="0">
              <a:latin typeface="Times New Roman" panose="02020603050405020304" pitchFamily="18" charset="0"/>
              <a:ea typeface="Calibri Light"/>
              <a:cs typeface="Times New Roman" panose="02020603050405020304" pitchFamily="18" charset="0"/>
            </a:endParaRPr>
          </a:p>
        </p:txBody>
      </p:sp>
      <p:sp>
        <p:nvSpPr>
          <p:cNvPr id="21" name="TextBox 20">
            <a:extLst>
              <a:ext uri="{FF2B5EF4-FFF2-40B4-BE49-F238E27FC236}">
                <a16:creationId xmlns:a16="http://schemas.microsoft.com/office/drawing/2014/main" id="{E2414524-332A-B59C-2173-298A12CF168C}"/>
              </a:ext>
            </a:extLst>
          </p:cNvPr>
          <p:cNvSpPr txBox="1"/>
          <p:nvPr/>
        </p:nvSpPr>
        <p:spPr>
          <a:xfrm>
            <a:off x="1061699" y="113584"/>
            <a:ext cx="11336592" cy="1566070"/>
          </a:xfrm>
          <a:prstGeom prst="rect">
            <a:avLst/>
          </a:prstGeom>
          <a:noFill/>
          <a:ln>
            <a:noFill/>
          </a:ln>
        </p:spPr>
        <p:style>
          <a:lnRef idx="2">
            <a:schemeClr val="dk1">
              <a:shade val="15000"/>
            </a:schemeClr>
          </a:lnRef>
          <a:fillRef idx="1">
            <a:schemeClr val="dk1"/>
          </a:fillRef>
          <a:effectRef idx="0">
            <a:schemeClr val="dk1"/>
          </a:effectRef>
          <a:fontRef idx="minor">
            <a:schemeClr val="lt1"/>
          </a:fontRef>
        </p:style>
        <p:txBody>
          <a:bodyPr wrap="square" lIns="91440" tIns="45720" rIns="91440" bIns="45720" anchor="t">
            <a:spAutoFit/>
          </a:bodyPr>
          <a:lstStyle/>
          <a:p>
            <a:pPr algn="ctr">
              <a:lnSpc>
                <a:spcPct val="150000"/>
              </a:lnSpc>
            </a:pPr>
            <a:r>
              <a:rPr lang="en-IN" sz="2400" b="1" dirty="0">
                <a:solidFill>
                  <a:srgbClr val="07407D"/>
                </a:solidFill>
                <a:latin typeface="Times New Roman" panose="02020603050405020304" pitchFamily="18" charset="0"/>
                <a:cs typeface="Times New Roman" panose="02020603050405020304" pitchFamily="18" charset="0"/>
              </a:rPr>
              <a:t>JAWAHARLAL NEHRU TECHNOLOGICAL UNIVERSITY HYDERABAD</a:t>
            </a:r>
            <a:br>
              <a:rPr lang="en-IN" sz="2400" dirty="0">
                <a:latin typeface="Times New Roman" panose="02020603050405020304" pitchFamily="18" charset="0"/>
                <a:cs typeface="Times New Roman" panose="02020603050405020304" pitchFamily="18" charset="0"/>
              </a:rPr>
            </a:br>
            <a:r>
              <a:rPr lang="en-IN" sz="2400" b="1" dirty="0">
                <a:solidFill>
                  <a:srgbClr val="07407D"/>
                </a:solidFill>
                <a:latin typeface="Times New Roman" panose="02020603050405020304" pitchFamily="18" charset="0"/>
                <a:cs typeface="Times New Roman" panose="02020603050405020304" pitchFamily="18" charset="0"/>
              </a:rPr>
              <a:t>UNIVERSITY COLLEGE OF ENGINEERING MANTHANI </a:t>
            </a:r>
            <a:br>
              <a:rPr lang="en-IN" sz="2400" dirty="0">
                <a:solidFill>
                  <a:srgbClr val="07407D"/>
                </a:solidFill>
                <a:latin typeface="Times New Roman" panose="02020603050405020304" pitchFamily="18" charset="0"/>
                <a:cs typeface="Times New Roman" panose="02020603050405020304" pitchFamily="18" charset="0"/>
              </a:rPr>
            </a:br>
            <a:r>
              <a:rPr lang="en-IN" dirty="0">
                <a:solidFill>
                  <a:schemeClr val="tx1"/>
                </a:solidFill>
                <a:latin typeface="Times New Roman" panose="02020603050405020304" pitchFamily="18" charset="0"/>
                <a:cs typeface="Times New Roman" panose="02020603050405020304" pitchFamily="18" charset="0"/>
              </a:rPr>
              <a:t>Centenary Colony(Po), Pannur (Vill), Ramagiri (Mdl), Peddapalli, Telangana-505212, India</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BBEB8EA7-7E7B-EC1F-69C9-B2DAC927F0A6}"/>
              </a:ext>
            </a:extLst>
          </p:cNvPr>
          <p:cNvSpPr txBox="1"/>
          <p:nvPr/>
        </p:nvSpPr>
        <p:spPr>
          <a:xfrm>
            <a:off x="88901" y="2314089"/>
            <a:ext cx="12014198" cy="12311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b="1" dirty="0">
                <a:solidFill>
                  <a:schemeClr val="accent1"/>
                </a:solidFill>
                <a:latin typeface="Times New Roman" panose="02020603050405020304" pitchFamily="18" charset="0"/>
                <a:cs typeface="Times New Roman" panose="02020603050405020304" pitchFamily="18" charset="0"/>
              </a:rPr>
              <a:t>An AI-Enabled Interview Simulation and ATS-Compatible Resume System for Career Readiness</a:t>
            </a:r>
            <a:endParaRPr lang="en-US" sz="3600" dirty="0">
              <a:solidFill>
                <a:schemeClr val="accent1"/>
              </a:solidFill>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F8262ED9-ADE6-D908-DDDD-DE1E6D876D85}"/>
              </a:ext>
            </a:extLst>
          </p:cNvPr>
          <p:cNvGraphicFramePr>
            <a:graphicFrameLocks noGrp="1"/>
          </p:cNvGraphicFramePr>
          <p:nvPr>
            <p:extLst>
              <p:ext uri="{D42A27DB-BD31-4B8C-83A1-F6EECF244321}">
                <p14:modId xmlns:p14="http://schemas.microsoft.com/office/powerpoint/2010/main" val="1757329169"/>
              </p:ext>
            </p:extLst>
          </p:nvPr>
        </p:nvGraphicFramePr>
        <p:xfrm>
          <a:off x="7292071" y="4140535"/>
          <a:ext cx="5106220" cy="2377440"/>
        </p:xfrm>
        <a:graphic>
          <a:graphicData uri="http://schemas.openxmlformats.org/drawingml/2006/table">
            <a:tbl>
              <a:tblPr firstRow="1" bandRow="1">
                <a:tableStyleId>{2D5ABB26-0587-4C30-8999-92F81FD0307C}</a:tableStyleId>
              </a:tblPr>
              <a:tblGrid>
                <a:gridCol w="2553110">
                  <a:extLst>
                    <a:ext uri="{9D8B030D-6E8A-4147-A177-3AD203B41FA5}">
                      <a16:colId xmlns:a16="http://schemas.microsoft.com/office/drawing/2014/main" val="3540545317"/>
                    </a:ext>
                  </a:extLst>
                </a:gridCol>
                <a:gridCol w="2553110">
                  <a:extLst>
                    <a:ext uri="{9D8B030D-6E8A-4147-A177-3AD203B41FA5}">
                      <a16:colId xmlns:a16="http://schemas.microsoft.com/office/drawing/2014/main" val="4032369553"/>
                    </a:ext>
                  </a:extLst>
                </a:gridCol>
              </a:tblGrid>
              <a:tr h="236784">
                <a:tc>
                  <a:txBody>
                    <a:bodyPr/>
                    <a:lstStyle/>
                    <a:p>
                      <a:r>
                        <a:rPr lang="en-US" sz="2000" b="1" u="sng" dirty="0">
                          <a:latin typeface="Times New Roman" panose="02020603050405020304" pitchFamily="18" charset="0"/>
                          <a:cs typeface="Times New Roman" panose="02020603050405020304" pitchFamily="18" charset="0"/>
                        </a:rPr>
                        <a:t>Team Members:</a:t>
                      </a:r>
                      <a:endParaRPr lang="en-IN" sz="2000" b="1" u="sng" dirty="0">
                        <a:latin typeface="Times New Roman" panose="02020603050405020304" pitchFamily="18" charset="0"/>
                        <a:cs typeface="Times New Roman" panose="02020603050405020304" pitchFamily="18" charset="0"/>
                      </a:endParaRPr>
                    </a:p>
                  </a:txBody>
                  <a:tcPr/>
                </a:tc>
                <a:tc>
                  <a:txBody>
                    <a:bodyPr/>
                    <a:lstStyle/>
                    <a:p>
                      <a:endParaRPr lang="en-IN" sz="200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403191203"/>
                  </a:ext>
                </a:extLst>
              </a:tr>
              <a:tr h="236784">
                <a:tc>
                  <a:txBody>
                    <a:bodyPr/>
                    <a:lstStyle/>
                    <a:p>
                      <a:r>
                        <a:rPr lang="en-US" sz="2000" dirty="0">
                          <a:latin typeface="Times New Roman" panose="02020603050405020304" pitchFamily="18" charset="0"/>
                          <a:cs typeface="Times New Roman" panose="02020603050405020304" pitchFamily="18" charset="0"/>
                        </a:rPr>
                        <a:t>Akula Sandeep Kumar</a:t>
                      </a: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Times New Roman" panose="02020603050405020304" pitchFamily="18" charset="0"/>
                          <a:cs typeface="Times New Roman" panose="02020603050405020304" pitchFamily="18" charset="0"/>
                        </a:rPr>
                        <a:t>22VD1A0548</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75619766"/>
                  </a:ext>
                </a:extLst>
              </a:tr>
              <a:tr h="236784">
                <a:tc>
                  <a:txBody>
                    <a:bodyPr/>
                    <a:lstStyle/>
                    <a:p>
                      <a:r>
                        <a:rPr lang="en-US" sz="2000" dirty="0">
                          <a:latin typeface="Times New Roman" panose="02020603050405020304" pitchFamily="18" charset="0"/>
                          <a:cs typeface="Times New Roman" panose="02020603050405020304" pitchFamily="18" charset="0"/>
                        </a:rPr>
                        <a:t>Cheekati Ramya</a:t>
                      </a: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Times New Roman" panose="02020603050405020304" pitchFamily="18" charset="0"/>
                          <a:cs typeface="Times New Roman" panose="02020603050405020304" pitchFamily="18" charset="0"/>
                        </a:rPr>
                        <a:t>22VD1A0542</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66599080"/>
                  </a:ext>
                </a:extLst>
              </a:tr>
              <a:tr h="236784">
                <a:tc>
                  <a:txBody>
                    <a:bodyPr/>
                    <a:lstStyle/>
                    <a:p>
                      <a:r>
                        <a:rPr lang="en-US" sz="2000" dirty="0">
                          <a:latin typeface="Times New Roman" panose="02020603050405020304" pitchFamily="18" charset="0"/>
                          <a:cs typeface="Times New Roman" panose="02020603050405020304" pitchFamily="18" charset="0"/>
                        </a:rPr>
                        <a:t>Madduri Sreeja</a:t>
                      </a: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Times New Roman" panose="02020603050405020304" pitchFamily="18" charset="0"/>
                          <a:cs typeface="Times New Roman" panose="02020603050405020304" pitchFamily="18" charset="0"/>
                        </a:rPr>
                        <a:t>22VD1A0556</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925046986"/>
                  </a:ext>
                </a:extLst>
              </a:tr>
              <a:tr h="236784">
                <a:tc>
                  <a:txBody>
                    <a:bodyPr/>
                    <a:lstStyle/>
                    <a:p>
                      <a:r>
                        <a:rPr lang="en-US" sz="2000" dirty="0">
                          <a:latin typeface="Times New Roman" panose="02020603050405020304" pitchFamily="18" charset="0"/>
                          <a:cs typeface="Times New Roman" panose="02020603050405020304" pitchFamily="18" charset="0"/>
                        </a:rPr>
                        <a:t>Medini Bharath</a:t>
                      </a: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Times New Roman" panose="02020603050405020304" pitchFamily="18" charset="0"/>
                          <a:cs typeface="Times New Roman" panose="02020603050405020304" pitchFamily="18" charset="0"/>
                        </a:rPr>
                        <a:t>22VD1A0508</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86452865"/>
                  </a:ext>
                </a:extLst>
              </a:tr>
              <a:tr h="236784">
                <a:tc>
                  <a:txBody>
                    <a:bodyPr/>
                    <a:lstStyle/>
                    <a:p>
                      <a:r>
                        <a:rPr lang="en-US" sz="2000" dirty="0">
                          <a:latin typeface="Times New Roman" panose="02020603050405020304" pitchFamily="18" charset="0"/>
                          <a:cs typeface="Times New Roman" panose="02020603050405020304" pitchFamily="18" charset="0"/>
                        </a:rPr>
                        <a:t>Kummari Naveen</a:t>
                      </a: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Times New Roman" panose="02020603050405020304" pitchFamily="18" charset="0"/>
                          <a:cs typeface="Times New Roman" panose="02020603050405020304" pitchFamily="18" charset="0"/>
                        </a:rPr>
                        <a:t>22VD1A0530</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43437734"/>
                  </a:ext>
                </a:extLst>
              </a:tr>
            </a:tbl>
          </a:graphicData>
        </a:graphic>
      </p:graphicFrame>
      <p:graphicFrame>
        <p:nvGraphicFramePr>
          <p:cNvPr id="3" name="Table 2">
            <a:extLst>
              <a:ext uri="{FF2B5EF4-FFF2-40B4-BE49-F238E27FC236}">
                <a16:creationId xmlns:a16="http://schemas.microsoft.com/office/drawing/2014/main" id="{5F9D8DF9-7A5B-2C2C-0FB2-8E5C0ADAA8A6}"/>
              </a:ext>
            </a:extLst>
          </p:cNvPr>
          <p:cNvGraphicFramePr>
            <a:graphicFrameLocks noGrp="1"/>
          </p:cNvGraphicFramePr>
          <p:nvPr>
            <p:extLst>
              <p:ext uri="{D42A27DB-BD31-4B8C-83A1-F6EECF244321}">
                <p14:modId xmlns:p14="http://schemas.microsoft.com/office/powerpoint/2010/main" val="3376499815"/>
              </p:ext>
            </p:extLst>
          </p:nvPr>
        </p:nvGraphicFramePr>
        <p:xfrm>
          <a:off x="409089" y="4140535"/>
          <a:ext cx="4074421" cy="1981200"/>
        </p:xfrm>
        <a:graphic>
          <a:graphicData uri="http://schemas.openxmlformats.org/drawingml/2006/table">
            <a:tbl>
              <a:tblPr firstRow="1" bandRow="1">
                <a:tableStyleId>{5940675A-B579-460E-94D1-54222C63F5DA}</a:tableStyleId>
              </a:tblPr>
              <a:tblGrid>
                <a:gridCol w="4074421">
                  <a:extLst>
                    <a:ext uri="{9D8B030D-6E8A-4147-A177-3AD203B41FA5}">
                      <a16:colId xmlns:a16="http://schemas.microsoft.com/office/drawing/2014/main" val="3593832459"/>
                    </a:ext>
                  </a:extLst>
                </a:gridCol>
              </a:tblGrid>
              <a:tr h="370840">
                <a:tc>
                  <a:txBody>
                    <a:bodyPr/>
                    <a:lstStyle/>
                    <a:p>
                      <a:r>
                        <a:rPr lang="en-US" sz="2000" b="1" u="sng" dirty="0">
                          <a:latin typeface="Times New Roman" panose="02020603050405020304" pitchFamily="18" charset="0"/>
                          <a:cs typeface="Times New Roman" panose="02020603050405020304" pitchFamily="18" charset="0"/>
                        </a:rPr>
                        <a:t>Under the guidance of:</a:t>
                      </a:r>
                      <a:endParaRPr lang="en-IN" sz="2000" b="1" u="sng"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78227282"/>
                  </a:ext>
                </a:extLst>
              </a:tr>
              <a:tr h="370840">
                <a:tc>
                  <a:txBody>
                    <a:bodyPr/>
                    <a:lstStyle/>
                    <a:p>
                      <a:r>
                        <a:rPr lang="en-US" sz="2000" b="1" dirty="0">
                          <a:latin typeface="Times New Roman" panose="02020603050405020304" pitchFamily="18" charset="0"/>
                          <a:cs typeface="Times New Roman" panose="02020603050405020304" pitchFamily="18" charset="0"/>
                        </a:rPr>
                        <a:t>Dr. B. Vishnu Vardhan</a:t>
                      </a:r>
                      <a:endParaRPr lang="en-IN" sz="2000" b="1"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79103267"/>
                  </a:ext>
                </a:extLst>
              </a:tr>
              <a:tr h="370840">
                <a:tc>
                  <a:txBody>
                    <a:bodyPr/>
                    <a:lstStyle/>
                    <a:p>
                      <a:r>
                        <a:rPr lang="en-US" sz="2000" dirty="0">
                          <a:latin typeface="Times New Roman" panose="02020603050405020304" pitchFamily="18" charset="0"/>
                          <a:cs typeface="Times New Roman" panose="02020603050405020304" pitchFamily="18" charset="0"/>
                        </a:rPr>
                        <a:t>Senior Professor,</a:t>
                      </a:r>
                      <a:endParaRPr lang="en-IN" sz="2000"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5653292"/>
                  </a:ext>
                </a:extLst>
              </a:tr>
              <a:tr h="370840">
                <a:tc>
                  <a:txBody>
                    <a:bodyPr/>
                    <a:lstStyle/>
                    <a:p>
                      <a:r>
                        <a:rPr lang="en-US" sz="2000" dirty="0">
                          <a:latin typeface="Times New Roman" panose="02020603050405020304" pitchFamily="18" charset="0"/>
                          <a:cs typeface="Times New Roman" panose="02020603050405020304" pitchFamily="18" charset="0"/>
                        </a:rPr>
                        <a:t>Computer Science and Engineering,</a:t>
                      </a:r>
                      <a:endParaRPr lang="en-IN" sz="2000"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23951013"/>
                  </a:ext>
                </a:extLst>
              </a:tr>
              <a:tr h="370840">
                <a:tc>
                  <a:txBody>
                    <a:bodyPr/>
                    <a:lstStyle/>
                    <a:p>
                      <a:r>
                        <a:rPr lang="en-US" sz="2000" dirty="0">
                          <a:latin typeface="Times New Roman" panose="02020603050405020304" pitchFamily="18" charset="0"/>
                          <a:cs typeface="Times New Roman" panose="02020603050405020304" pitchFamily="18" charset="0"/>
                        </a:rPr>
                        <a:t>Principal of JNTUH UCEM.</a:t>
                      </a:r>
                      <a:endParaRPr lang="en-IN" sz="2000"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3351129"/>
                  </a:ext>
                </a:extLst>
              </a:tr>
            </a:tbl>
          </a:graphicData>
        </a:graphic>
      </p:graphicFrame>
    </p:spTree>
    <p:extLst>
      <p:ext uri="{BB962C8B-B14F-4D97-AF65-F5344CB8AC3E}">
        <p14:creationId xmlns:p14="http://schemas.microsoft.com/office/powerpoint/2010/main" val="28880925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6" name="Picture 35" descr="Eleven Trending AI Chatbot Platforms | by Kristen Carter | HackerNoon.com |  Medium">
            <a:extLst>
              <a:ext uri="{FF2B5EF4-FFF2-40B4-BE49-F238E27FC236}">
                <a16:creationId xmlns:a16="http://schemas.microsoft.com/office/drawing/2014/main" id="{96AE275E-25FC-30CD-98FB-204CAD94DD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7388" t="-7" r="37866" b="100000"/>
          <a:stretch>
            <a:fillRect/>
          </a:stretch>
        </p:blipFill>
        <p:spPr bwMode="auto">
          <a:xfrm>
            <a:off x="107" y="-512"/>
            <a:ext cx="5961588" cy="513"/>
          </a:xfrm>
          <a:custGeom>
            <a:avLst/>
            <a:gdLst>
              <a:gd name="connsiteX0" fmla="*/ 0 w 5961588"/>
              <a:gd name="connsiteY0" fmla="*/ 0 h 513"/>
              <a:gd name="connsiteX1" fmla="*/ 5961075 w 5961588"/>
              <a:gd name="connsiteY1" fmla="*/ 0 h 513"/>
              <a:gd name="connsiteX2" fmla="*/ 5961588 w 5961588"/>
              <a:gd name="connsiteY2" fmla="*/ 513 h 513"/>
              <a:gd name="connsiteX3" fmla="*/ 0 w 5961588"/>
              <a:gd name="connsiteY3" fmla="*/ 513 h 513"/>
              <a:gd name="connsiteX4" fmla="*/ 0 w 5961588"/>
              <a:gd name="connsiteY4" fmla="*/ 0 h 5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1588" h="513">
                <a:moveTo>
                  <a:pt x="0" y="0"/>
                </a:moveTo>
                <a:lnTo>
                  <a:pt x="5961075" y="0"/>
                </a:lnTo>
                <a:lnTo>
                  <a:pt x="5961588" y="513"/>
                </a:lnTo>
                <a:lnTo>
                  <a:pt x="0" y="513"/>
                </a:lnTo>
                <a:lnTo>
                  <a:pt x="0" y="0"/>
                </a:lnTo>
                <a:close/>
              </a:path>
            </a:pathLst>
          </a:custGeom>
          <a:noFill/>
          <a:extLst>
            <a:ext uri="{909E8E84-426E-40DD-AFC4-6F175D3DCCD1}">
              <a14:hiddenFill xmlns:a14="http://schemas.microsoft.com/office/drawing/2010/main">
                <a:solidFill>
                  <a:srgbClr val="FFFFFF"/>
                </a:solidFill>
              </a14:hiddenFill>
            </a:ext>
          </a:extLst>
        </p:spPr>
      </p:pic>
      <p:sp>
        <p:nvSpPr>
          <p:cNvPr id="37" name="TextBox 36">
            <a:extLst>
              <a:ext uri="{FF2B5EF4-FFF2-40B4-BE49-F238E27FC236}">
                <a16:creationId xmlns:a16="http://schemas.microsoft.com/office/drawing/2014/main" id="{552E79E9-8288-3507-7B5E-721CC58DD094}"/>
              </a:ext>
            </a:extLst>
          </p:cNvPr>
          <p:cNvSpPr txBox="1"/>
          <p:nvPr/>
        </p:nvSpPr>
        <p:spPr>
          <a:xfrm>
            <a:off x="0" y="9832"/>
            <a:ext cx="12191893" cy="8346965"/>
          </a:xfrm>
          <a:prstGeom prst="rect">
            <a:avLst/>
          </a:prstGeom>
          <a:noFill/>
        </p:spPr>
        <p:txBody>
          <a:bodyPr wrap="square" lIns="91440" tIns="45720" rIns="91440" bIns="45720" anchor="t">
            <a:spAutoFit/>
          </a:bodyPr>
          <a:lstStyle/>
          <a:p>
            <a:pPr>
              <a:lnSpc>
                <a:spcPct val="150000"/>
              </a:lnSpc>
            </a:pPr>
            <a:r>
              <a:rPr lang="en-IN" sz="4000" b="1" i="0" dirty="0">
                <a:solidFill>
                  <a:srgbClr val="FF0000"/>
                </a:solidFill>
                <a:effectLst/>
                <a:latin typeface="Times New Roman"/>
                <a:cs typeface="Times New Roman"/>
              </a:rPr>
              <a:t> Contents</a:t>
            </a:r>
          </a:p>
          <a:p>
            <a:pPr marL="800100" lvl="1" indent="-342900">
              <a:lnSpc>
                <a:spcPct val="150000"/>
              </a:lnSpc>
              <a:buFont typeface="Wingdings" panose="05000000000000000000" pitchFamily="2" charset="2"/>
              <a:buChar char="Ø"/>
            </a:pPr>
            <a:r>
              <a:rPr lang="en-IN" sz="2000" dirty="0">
                <a:solidFill>
                  <a:srgbClr val="000000"/>
                </a:solidFill>
                <a:latin typeface="Times New Roman"/>
                <a:cs typeface="Times New Roman"/>
              </a:rPr>
              <a:t>Introduction</a:t>
            </a:r>
          </a:p>
          <a:p>
            <a:pPr marL="800100" lvl="1" indent="-342900">
              <a:lnSpc>
                <a:spcPct val="150000"/>
              </a:lnSpc>
              <a:buFont typeface="Wingdings" panose="05000000000000000000" pitchFamily="2" charset="2"/>
              <a:buChar char="Ø"/>
            </a:pPr>
            <a:r>
              <a:rPr lang="en-IN" sz="2000" dirty="0">
                <a:solidFill>
                  <a:srgbClr val="000000"/>
                </a:solidFill>
                <a:latin typeface="Times New Roman"/>
                <a:cs typeface="Times New Roman"/>
              </a:rPr>
              <a:t>Abstract</a:t>
            </a:r>
          </a:p>
          <a:p>
            <a:pPr marL="800100" lvl="1" indent="-342900">
              <a:lnSpc>
                <a:spcPct val="150000"/>
              </a:lnSpc>
              <a:buFont typeface="Wingdings" panose="05000000000000000000" pitchFamily="2" charset="2"/>
              <a:buChar char="Ø"/>
            </a:pPr>
            <a:r>
              <a:rPr lang="en-IN" sz="2000" dirty="0">
                <a:solidFill>
                  <a:srgbClr val="000000"/>
                </a:solidFill>
                <a:latin typeface="Times New Roman"/>
                <a:cs typeface="Times New Roman"/>
              </a:rPr>
              <a:t>Existing System</a:t>
            </a:r>
          </a:p>
          <a:p>
            <a:pPr marL="800100" lvl="1" indent="-342900">
              <a:lnSpc>
                <a:spcPct val="150000"/>
              </a:lnSpc>
              <a:buFont typeface="Wingdings" panose="05000000000000000000" pitchFamily="2" charset="2"/>
              <a:buChar char="Ø"/>
            </a:pPr>
            <a:r>
              <a:rPr lang="en-IN" sz="2000" dirty="0">
                <a:solidFill>
                  <a:srgbClr val="000000"/>
                </a:solidFill>
                <a:latin typeface="Times New Roman"/>
                <a:cs typeface="Times New Roman"/>
              </a:rPr>
              <a:t>Limitations of Existing System</a:t>
            </a:r>
          </a:p>
          <a:p>
            <a:pPr marL="800100" lvl="1" indent="-342900">
              <a:lnSpc>
                <a:spcPct val="150000"/>
              </a:lnSpc>
              <a:buFont typeface="Wingdings" panose="05000000000000000000" pitchFamily="2" charset="2"/>
              <a:buChar char="Ø"/>
            </a:pPr>
            <a:r>
              <a:rPr lang="en-IN" sz="2000" dirty="0">
                <a:solidFill>
                  <a:srgbClr val="000000"/>
                </a:solidFill>
                <a:latin typeface="Times New Roman"/>
                <a:cs typeface="Times New Roman"/>
              </a:rPr>
              <a:t>Problem Statement</a:t>
            </a:r>
          </a:p>
          <a:p>
            <a:pPr marL="800100" lvl="1" indent="-342900">
              <a:lnSpc>
                <a:spcPct val="150000"/>
              </a:lnSpc>
              <a:buFont typeface="Wingdings" panose="05000000000000000000" pitchFamily="2" charset="2"/>
              <a:buChar char="Ø"/>
            </a:pPr>
            <a:r>
              <a:rPr lang="en-IN" sz="2000" dirty="0">
                <a:solidFill>
                  <a:srgbClr val="000000"/>
                </a:solidFill>
                <a:latin typeface="Times New Roman"/>
                <a:cs typeface="Times New Roman"/>
              </a:rPr>
              <a:t>Proposed System</a:t>
            </a:r>
          </a:p>
          <a:p>
            <a:pPr marL="800100" lvl="1" indent="-342900">
              <a:lnSpc>
                <a:spcPct val="150000"/>
              </a:lnSpc>
              <a:buFont typeface="Wingdings" panose="05000000000000000000" pitchFamily="2" charset="2"/>
              <a:buChar char="Ø"/>
            </a:pPr>
            <a:r>
              <a:rPr lang="en-IN" sz="2000" dirty="0">
                <a:solidFill>
                  <a:srgbClr val="000000"/>
                </a:solidFill>
                <a:latin typeface="Times New Roman"/>
                <a:cs typeface="Times New Roman"/>
              </a:rPr>
              <a:t>Advantages of Proposed System</a:t>
            </a:r>
          </a:p>
          <a:p>
            <a:pPr marL="800100" lvl="1" indent="-342900">
              <a:lnSpc>
                <a:spcPct val="150000"/>
              </a:lnSpc>
              <a:buFont typeface="Wingdings" panose="05000000000000000000" pitchFamily="2" charset="2"/>
              <a:buChar char="Ø"/>
            </a:pPr>
            <a:r>
              <a:rPr lang="en-IN" sz="2000" dirty="0">
                <a:solidFill>
                  <a:srgbClr val="000000"/>
                </a:solidFill>
                <a:latin typeface="Times New Roman"/>
                <a:cs typeface="Times New Roman"/>
              </a:rPr>
              <a:t>Software Requirements Specifications</a:t>
            </a:r>
          </a:p>
          <a:p>
            <a:pPr marL="800100" lvl="1" indent="-342900">
              <a:lnSpc>
                <a:spcPct val="150000"/>
              </a:lnSpc>
              <a:buFont typeface="Wingdings" panose="05000000000000000000" pitchFamily="2" charset="2"/>
              <a:buChar char="Ø"/>
            </a:pPr>
            <a:r>
              <a:rPr lang="en-IN" sz="2000" dirty="0">
                <a:solidFill>
                  <a:srgbClr val="000000"/>
                </a:solidFill>
                <a:latin typeface="Times New Roman"/>
                <a:cs typeface="Times New Roman"/>
              </a:rPr>
              <a:t>System Design</a:t>
            </a:r>
          </a:p>
          <a:p>
            <a:pPr marL="800100" lvl="1" indent="-342900">
              <a:lnSpc>
                <a:spcPct val="150000"/>
              </a:lnSpc>
              <a:buFont typeface="Wingdings" panose="05000000000000000000" pitchFamily="2" charset="2"/>
              <a:buChar char="Ø"/>
            </a:pPr>
            <a:r>
              <a:rPr lang="en-IN" sz="2000" dirty="0">
                <a:solidFill>
                  <a:srgbClr val="000000"/>
                </a:solidFill>
                <a:latin typeface="Times New Roman"/>
                <a:cs typeface="Times New Roman"/>
              </a:rPr>
              <a:t>Implementation</a:t>
            </a:r>
          </a:p>
          <a:p>
            <a:pPr marL="800100" lvl="1" indent="-342900">
              <a:lnSpc>
                <a:spcPct val="150000"/>
              </a:lnSpc>
              <a:buFont typeface="Wingdings" panose="05000000000000000000" pitchFamily="2" charset="2"/>
              <a:buChar char="Ø"/>
            </a:pPr>
            <a:r>
              <a:rPr lang="en-IN" sz="2000" dirty="0">
                <a:solidFill>
                  <a:srgbClr val="000000"/>
                </a:solidFill>
                <a:latin typeface="Times New Roman"/>
                <a:cs typeface="Times New Roman"/>
              </a:rPr>
              <a:t>Result</a:t>
            </a:r>
          </a:p>
          <a:p>
            <a:pPr marL="800100" lvl="1" indent="-342900">
              <a:lnSpc>
                <a:spcPct val="150000"/>
              </a:lnSpc>
              <a:buFont typeface="Wingdings" panose="05000000000000000000" pitchFamily="2" charset="2"/>
              <a:buChar char="Ø"/>
            </a:pPr>
            <a:r>
              <a:rPr lang="en-IN" sz="2000" dirty="0">
                <a:solidFill>
                  <a:srgbClr val="000000"/>
                </a:solidFill>
                <a:latin typeface="Times New Roman"/>
                <a:cs typeface="Times New Roman"/>
              </a:rPr>
              <a:t>Conclusion</a:t>
            </a:r>
          </a:p>
          <a:p>
            <a:pPr lvl="1">
              <a:lnSpc>
                <a:spcPct val="150000"/>
              </a:lnSpc>
            </a:pPr>
            <a:endParaRPr lang="en-IN" sz="2000" dirty="0">
              <a:solidFill>
                <a:srgbClr val="000000"/>
              </a:solidFill>
              <a:latin typeface="Times New Roman"/>
              <a:cs typeface="Times New Roman"/>
            </a:endParaRPr>
          </a:p>
          <a:p>
            <a:pPr lvl="1">
              <a:lnSpc>
                <a:spcPct val="150000"/>
              </a:lnSpc>
            </a:pPr>
            <a:endParaRPr lang="en-IN" sz="2000" dirty="0">
              <a:solidFill>
                <a:srgbClr val="000000"/>
              </a:solidFill>
              <a:latin typeface="Times New Roman"/>
              <a:cs typeface="Times New Roman"/>
            </a:endParaRPr>
          </a:p>
          <a:p>
            <a:pPr lvl="1">
              <a:lnSpc>
                <a:spcPct val="150000"/>
              </a:lnSpc>
            </a:pPr>
            <a:endParaRPr lang="en-IN" sz="2000" dirty="0">
              <a:solidFill>
                <a:srgbClr val="000000"/>
              </a:solidFill>
              <a:latin typeface="Times New Roman"/>
              <a:cs typeface="Times New Roman"/>
            </a:endParaRPr>
          </a:p>
          <a:p>
            <a:pPr lvl="1">
              <a:lnSpc>
                <a:spcPct val="150000"/>
              </a:lnSpc>
            </a:pPr>
            <a:endParaRPr lang="en-IN" sz="2000" dirty="0">
              <a:solidFill>
                <a:srgbClr val="000000"/>
              </a:solidFill>
              <a:latin typeface="Times New Roman"/>
              <a:cs typeface="Times New Roman"/>
            </a:endParaRPr>
          </a:p>
        </p:txBody>
      </p:sp>
    </p:spTree>
    <p:extLst>
      <p:ext uri="{BB962C8B-B14F-4D97-AF65-F5344CB8AC3E}">
        <p14:creationId xmlns:p14="http://schemas.microsoft.com/office/powerpoint/2010/main" val="12821621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5" name="Freeform: Shape 64">
            <a:extLst>
              <a:ext uri="{FF2B5EF4-FFF2-40B4-BE49-F238E27FC236}">
                <a16:creationId xmlns:a16="http://schemas.microsoft.com/office/drawing/2014/main" id="{BC3F5183-5EF5-0250-9CF8-C3E7BEDDB0E2}"/>
              </a:ext>
            </a:extLst>
          </p:cNvPr>
          <p:cNvSpPr/>
          <p:nvPr/>
        </p:nvSpPr>
        <p:spPr>
          <a:xfrm rot="2700000">
            <a:off x="5298842" y="6131192"/>
            <a:ext cx="1264932" cy="1264932"/>
          </a:xfrm>
          <a:custGeom>
            <a:avLst/>
            <a:gdLst>
              <a:gd name="connsiteX0" fmla="*/ 62239 w 1264932"/>
              <a:gd name="connsiteY0" fmla="*/ 62240 h 1264932"/>
              <a:gd name="connsiteX1" fmla="*/ 212499 w 1264932"/>
              <a:gd name="connsiteY1" fmla="*/ 1 h 1264932"/>
              <a:gd name="connsiteX2" fmla="*/ 1062473 w 1264932"/>
              <a:gd name="connsiteY2" fmla="*/ 0 h 1264932"/>
              <a:gd name="connsiteX3" fmla="*/ 1258274 w 1264932"/>
              <a:gd name="connsiteY3" fmla="*/ 129785 h 1264932"/>
              <a:gd name="connsiteX4" fmla="*/ 1264932 w 1264932"/>
              <a:gd name="connsiteY4" fmla="*/ 151232 h 1264932"/>
              <a:gd name="connsiteX5" fmla="*/ 151232 w 1264932"/>
              <a:gd name="connsiteY5" fmla="*/ 1264932 h 1264932"/>
              <a:gd name="connsiteX6" fmla="*/ 129785 w 1264932"/>
              <a:gd name="connsiteY6" fmla="*/ 1258274 h 1264932"/>
              <a:gd name="connsiteX7" fmla="*/ 0 w 1264932"/>
              <a:gd name="connsiteY7" fmla="*/ 1062474 h 1264932"/>
              <a:gd name="connsiteX8" fmla="*/ 0 w 1264932"/>
              <a:gd name="connsiteY8" fmla="*/ 212500 h 1264932"/>
              <a:gd name="connsiteX9" fmla="*/ 62239 w 1264932"/>
              <a:gd name="connsiteY9" fmla="*/ 62240 h 1264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64932" h="1264932">
                <a:moveTo>
                  <a:pt x="62239" y="62240"/>
                </a:moveTo>
                <a:cubicBezTo>
                  <a:pt x="100694" y="23785"/>
                  <a:pt x="153819" y="0"/>
                  <a:pt x="212499" y="1"/>
                </a:cubicBezTo>
                <a:lnTo>
                  <a:pt x="1062473" y="0"/>
                </a:lnTo>
                <a:cubicBezTo>
                  <a:pt x="1150494" y="0"/>
                  <a:pt x="1226016" y="53515"/>
                  <a:pt x="1258274" y="129785"/>
                </a:cubicBezTo>
                <a:lnTo>
                  <a:pt x="1264932" y="151232"/>
                </a:lnTo>
                <a:lnTo>
                  <a:pt x="151232" y="1264932"/>
                </a:lnTo>
                <a:lnTo>
                  <a:pt x="129785" y="1258274"/>
                </a:lnTo>
                <a:cubicBezTo>
                  <a:pt x="53515" y="1226016"/>
                  <a:pt x="0" y="1150494"/>
                  <a:pt x="0" y="1062474"/>
                </a:cubicBezTo>
                <a:lnTo>
                  <a:pt x="0" y="212500"/>
                </a:lnTo>
                <a:cubicBezTo>
                  <a:pt x="0" y="153820"/>
                  <a:pt x="23784" y="100695"/>
                  <a:pt x="62239" y="62240"/>
                </a:cubicBezTo>
                <a:close/>
              </a:path>
            </a:pathLst>
          </a:custGeom>
          <a:solidFill>
            <a:schemeClr val="bg1">
              <a:alpha val="8000"/>
            </a:schemeClr>
          </a:solidFill>
          <a:ln w="27090" cap="flat">
            <a:noFill/>
            <a:prstDash val="solid"/>
            <a:miter/>
          </a:ln>
        </p:spPr>
        <p:txBody>
          <a:bodyPr rtlCol="0" anchor="ctr"/>
          <a:lstStyle/>
          <a:p>
            <a:endParaRPr lang="en-IN"/>
          </a:p>
        </p:txBody>
      </p:sp>
      <p:sp>
        <p:nvSpPr>
          <p:cNvPr id="5" name="Rectangle 2">
            <a:extLst>
              <a:ext uri="{FF2B5EF4-FFF2-40B4-BE49-F238E27FC236}">
                <a16:creationId xmlns:a16="http://schemas.microsoft.com/office/drawing/2014/main" id="{EC0755DB-797A-501F-480A-2DCC04983E10}"/>
              </a:ext>
            </a:extLst>
          </p:cNvPr>
          <p:cNvSpPr>
            <a:spLocks noChangeArrowheads="1"/>
          </p:cNvSpPr>
          <p:nvPr/>
        </p:nvSpPr>
        <p:spPr bwMode="auto">
          <a:xfrm>
            <a:off x="0" y="-230832"/>
            <a:ext cx="12192000" cy="5115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lnSpc>
                <a:spcPct val="150000"/>
              </a:lnSpc>
              <a:spcBef>
                <a:spcPct val="0"/>
              </a:spcBef>
              <a:spcAft>
                <a:spcPct val="0"/>
              </a:spcAft>
            </a:pPr>
            <a:r>
              <a:rPr lang="en-IN" sz="4000" b="1" dirty="0">
                <a:solidFill>
                  <a:srgbClr val="FF0000"/>
                </a:solidFill>
                <a:latin typeface="Times New Roman" panose="02020603050405020304" pitchFamily="18" charset="0"/>
                <a:cs typeface="Times New Roman" panose="02020603050405020304" pitchFamily="18" charset="0"/>
              </a:rPr>
              <a:t> Introduction</a:t>
            </a:r>
            <a:endParaRPr kumimoji="0" lang="en-US" altLang="en-US" sz="180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endParaRPr>
          </a:p>
          <a:p>
            <a:pPr marL="742950" lvl="1" indent="-285750" algn="just" eaLnBrk="0" fontAlgn="base" hangingPunct="0">
              <a:lnSpc>
                <a:spcPct val="150000"/>
              </a:lnSpc>
              <a:spcBef>
                <a:spcPct val="0"/>
              </a:spcBef>
              <a:spcAft>
                <a:spcPct val="0"/>
              </a:spcAft>
              <a:buFont typeface="Wingdings" panose="05000000000000000000" pitchFamily="2" charset="2"/>
              <a:buChar char="Ø"/>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 AI-Enabled Interview Simulation and ATS-Compatible Resume System designed for career readiness.</a:t>
            </a:r>
          </a:p>
          <a:p>
            <a:pPr marL="742950" lvl="1" indent="-285750" algn="just" eaLnBrk="0" fontAlgn="base" hangingPunct="0">
              <a:lnSpc>
                <a:spcPct val="150000"/>
              </a:lnSpc>
              <a:spcBef>
                <a:spcPct val="0"/>
              </a:spcBef>
              <a:spcAft>
                <a:spcPct val="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Securing a job today is not just about qualifications, but also about presentation and preparedness.</a:t>
            </a:r>
          </a:p>
          <a:p>
            <a:pPr marL="742950" lvl="1" indent="-285750" algn="just" eaLnBrk="0" fontAlgn="base" hangingPunct="0">
              <a:lnSpc>
                <a:spcPct val="150000"/>
              </a:lnSpc>
              <a:spcBef>
                <a:spcPct val="0"/>
              </a:spcBef>
              <a:spcAft>
                <a:spcPct val="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Many candidates fail due to poor interview performance or non-ATS-compliant resumes.</a:t>
            </a:r>
          </a:p>
          <a:p>
            <a:pPr marL="742950" lvl="1" indent="-285750" algn="just" eaLnBrk="0" fontAlgn="base" hangingPunct="0">
              <a:lnSpc>
                <a:spcPct val="150000"/>
              </a:lnSpc>
              <a:spcBef>
                <a:spcPct val="0"/>
              </a:spcBef>
              <a:spcAft>
                <a:spcPct val="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Traditional tools are generic, repetitive, and lack real-time feedback.</a:t>
            </a: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742950" lvl="1" indent="-285750" algn="just" eaLnBrk="0" fontAlgn="base" hangingPunct="0">
              <a:lnSpc>
                <a:spcPct val="150000"/>
              </a:lnSpc>
              <a:spcBef>
                <a:spcPct val="0"/>
              </a:spcBef>
              <a:spcAft>
                <a:spcPct val="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system combines automated resume screening with AI-based interview simulation.</a:t>
            </a:r>
          </a:p>
          <a:p>
            <a:pPr marL="742950" lvl="1" indent="-285750" algn="just" eaLnBrk="0" fontAlgn="base" hangingPunct="0">
              <a:lnSpc>
                <a:spcPct val="150000"/>
              </a:lnSpc>
              <a:spcBef>
                <a:spcPct val="0"/>
              </a:spcBef>
              <a:spcAft>
                <a:spcPct val="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Utilizes locally trained AI models without external APIs or third-party services.</a:t>
            </a:r>
          </a:p>
          <a:p>
            <a:pPr marL="742950" lvl="1" indent="-285750" algn="just" eaLnBrk="0" fontAlgn="base" hangingPunct="0">
              <a:lnSpc>
                <a:spcPct val="150000"/>
              </a:lnSpc>
              <a:spcBef>
                <a:spcPct val="0"/>
              </a:spcBef>
              <a:spcAft>
                <a:spcPct val="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Implements Q-Learning–based intelligent agents for adaptive decision-making.</a:t>
            </a:r>
          </a:p>
          <a:p>
            <a:pPr marL="742950" lvl="1" indent="-285750" algn="just" eaLnBrk="0" fontAlgn="base" hangingPunct="0">
              <a:lnSpc>
                <a:spcPct val="150000"/>
              </a:lnSpc>
              <a:spcBef>
                <a:spcPct val="0"/>
              </a:spcBef>
              <a:spcAft>
                <a:spcPct val="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Provides personalized, adaptive feedback to improve career readiness and selection chances.</a:t>
            </a:r>
          </a:p>
          <a:p>
            <a:pPr marL="742950" lvl="1" indent="-285750" algn="just" eaLnBrk="0" fontAlgn="base" hangingPunct="0">
              <a:lnSpc>
                <a:spcPct val="150000"/>
              </a:lnSpc>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Helps candidates overcome challenges in interviews and resume shortlisting.</a:t>
            </a:r>
          </a:p>
        </p:txBody>
      </p:sp>
    </p:spTree>
    <p:extLst>
      <p:ext uri="{BB962C8B-B14F-4D97-AF65-F5344CB8AC3E}">
        <p14:creationId xmlns:p14="http://schemas.microsoft.com/office/powerpoint/2010/main" val="16909567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73A0AE0D-404A-B8A6-5A66-3D49C908FD95}"/>
              </a:ext>
            </a:extLst>
          </p:cNvPr>
          <p:cNvSpPr>
            <a:spLocks noChangeArrowheads="1"/>
          </p:cNvSpPr>
          <p:nvPr/>
        </p:nvSpPr>
        <p:spPr bwMode="auto">
          <a:xfrm flipH="1">
            <a:off x="0" y="-103970"/>
            <a:ext cx="12192000" cy="696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50000"/>
              </a:lnSpc>
              <a:spcBef>
                <a:spcPct val="0"/>
              </a:spcBef>
              <a:spcAft>
                <a:spcPct val="0"/>
              </a:spcAft>
            </a:pPr>
            <a:r>
              <a:rPr lang="en-US" altLang="en-US" sz="4000" b="1" dirty="0">
                <a:solidFill>
                  <a:srgbClr val="FF0000"/>
                </a:solidFill>
                <a:latin typeface="Times New Roman" panose="02020603050405020304" pitchFamily="18" charset="0"/>
                <a:cs typeface="Times New Roman" panose="02020603050405020304" pitchFamily="18" charset="0"/>
              </a:rPr>
              <a:t> Abstract</a:t>
            </a:r>
            <a:endParaRPr kumimoji="0" lang="en-US" altLang="en-US"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endParaRPr>
          </a:p>
          <a:p>
            <a:pPr marL="742950" lvl="1" indent="-285750" algn="just" eaLnBrk="0" fontAlgn="base" hangingPunct="0">
              <a:lnSpc>
                <a:spcPct val="150000"/>
              </a:lnSpc>
              <a:spcBef>
                <a:spcPct val="0"/>
              </a:spcBef>
              <a:spcAft>
                <a:spcPct val="0"/>
              </a:spcAft>
              <a:buFont typeface="Wingdings" panose="05000000000000000000" pitchFamily="2" charset="2"/>
              <a:buChar char="Ø"/>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Job seekers face challenges in the recruitment process due to lack of preparation, low confidence, and unfamiliarity with role-specific questions.</a:t>
            </a:r>
          </a:p>
          <a:p>
            <a:pPr marL="742950" lvl="1" indent="-285750" algn="just" eaLnBrk="0" fontAlgn="base" hangingPunct="0">
              <a:lnSpc>
                <a:spcPct val="150000"/>
              </a:lnSpc>
              <a:spcBef>
                <a:spcPct val="0"/>
              </a:spcBef>
              <a:spcAft>
                <a:spcPct val="0"/>
              </a:spcAft>
              <a:buFont typeface="Wingdings" panose="05000000000000000000" pitchFamily="2" charset="2"/>
              <a:buChar char="Ø"/>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Many resumes are automatically rejected by ATS because of poor formatting, missing keywords, or improper structure.</a:t>
            </a:r>
          </a:p>
          <a:p>
            <a:pPr marL="742950" lvl="1" indent="-285750" algn="just" eaLnBrk="0" fontAlgn="base" hangingPunct="0">
              <a:lnSpc>
                <a:spcPct val="150000"/>
              </a:lnSpc>
              <a:spcBef>
                <a:spcPct val="0"/>
              </a:spcBef>
              <a:spcAft>
                <a:spcPct val="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platform employs a multi-agent framework consisting of one Q-Learning interview agent and three ATS decision agents.</a:t>
            </a:r>
          </a:p>
          <a:p>
            <a:pPr marL="742950" lvl="1" indent="-285750" algn="just" eaLnBrk="0" fontAlgn="base" hangingPunct="0">
              <a:lnSpc>
                <a:spcPct val="150000"/>
              </a:lnSpc>
              <a:spcBef>
                <a:spcPct val="0"/>
              </a:spcBef>
              <a:spcAft>
                <a:spcPct val="0"/>
              </a:spcAft>
              <a:buFont typeface="Wingdings" panose="05000000000000000000" pitchFamily="2" charset="2"/>
              <a:buChar char="Ø"/>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Interview Module evaluates correctness, fluency, tone, and non-verbal cues.</a:t>
            </a:r>
          </a:p>
          <a:p>
            <a:pPr marL="742950" lvl="1" indent="-285750" algn="just" eaLnBrk="0" fontAlgn="base" hangingPunct="0">
              <a:lnSpc>
                <a:spcPct val="150000"/>
              </a:lnSpc>
              <a:spcBef>
                <a:spcPct val="0"/>
              </a:spcBef>
              <a:spcAft>
                <a:spcPct val="0"/>
              </a:spcAft>
              <a:buFont typeface="Wingdings" panose="05000000000000000000" pitchFamily="2" charset="2"/>
              <a:buChar char="Ø"/>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Resume Module analyzes formatting, keyword relevance, and ATS compliance also the Resume Builder module will help the user to create the ATS friendly resume using Latex editor.</a:t>
            </a:r>
          </a:p>
          <a:p>
            <a:pPr marL="742950" lvl="1" indent="-285750" algn="just" eaLnBrk="0" fontAlgn="base" hangingPunct="0">
              <a:lnSpc>
                <a:spcPct val="150000"/>
              </a:lnSpc>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Resume Agent extracts text, applies TF-IDF, BM25, and SBERT to check keyword relevance and semantic similarity, then generates ATS score with suggestions.</a:t>
            </a:r>
          </a:p>
          <a:p>
            <a:pPr marL="742950" lvl="1" indent="-285750" algn="just" eaLnBrk="0" fontAlgn="base" hangingPunct="0">
              <a:lnSpc>
                <a:spcPct val="150000"/>
              </a:lnSpc>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Interview Agent uses ASR to convert speech to text, applies NLP for correctness, fluency, and tone, and Deep Learning (CNN + MediaPipe) for facial expressions and posture.</a:t>
            </a:r>
          </a:p>
        </p:txBody>
      </p:sp>
    </p:spTree>
    <p:extLst>
      <p:ext uri="{BB962C8B-B14F-4D97-AF65-F5344CB8AC3E}">
        <p14:creationId xmlns:p14="http://schemas.microsoft.com/office/powerpoint/2010/main" val="23906024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156C279-35B8-E1AB-1B32-B7E1AC80FBA8}"/>
              </a:ext>
            </a:extLst>
          </p:cNvPr>
          <p:cNvSpPr>
            <a:spLocks noChangeArrowheads="1"/>
          </p:cNvSpPr>
          <p:nvPr/>
        </p:nvSpPr>
        <p:spPr bwMode="auto">
          <a:xfrm>
            <a:off x="0" y="-206477"/>
            <a:ext cx="12192000" cy="696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50000"/>
              </a:lnSpc>
              <a:spcBef>
                <a:spcPct val="0"/>
              </a:spcBef>
              <a:spcAft>
                <a:spcPct val="0"/>
              </a:spcAft>
            </a:pPr>
            <a:r>
              <a:rPr lang="en-IN" sz="4000" b="1" dirty="0">
                <a:solidFill>
                  <a:srgbClr val="FF0000"/>
                </a:solidFill>
                <a:latin typeface="Times New Roman"/>
                <a:cs typeface="Times New Roman"/>
              </a:rPr>
              <a:t> Existing System</a:t>
            </a:r>
            <a:endParaRPr kumimoji="0" lang="en-US" altLang="en-US" sz="40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endParaRPr>
          </a:p>
          <a:p>
            <a:pPr lvl="1" algn="just" eaLnBrk="0" fontAlgn="base" hangingPunct="0">
              <a:lnSpc>
                <a:spcPct val="150000"/>
              </a:lnSpc>
              <a:spcBef>
                <a:spcPct val="0"/>
              </a:spcBef>
              <a:spcAft>
                <a:spcPct val="0"/>
              </a:spcAft>
            </a:pPr>
            <a:r>
              <a:rPr lang="en-US" sz="2000" dirty="0">
                <a:latin typeface="Times New Roman" panose="02020603050405020304" pitchFamily="18" charset="0"/>
                <a:cs typeface="Times New Roman" panose="02020603050405020304" pitchFamily="18" charset="0"/>
              </a:rPr>
              <a:t>The existing systems for interview preparation and ATS resume building encompass a variety of platforms and tools currently available in the market. Some notable examples include:</a:t>
            </a: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742950" lvl="1" indent="-285750" algn="just" eaLnBrk="0" fontAlgn="base" hangingPunct="0">
              <a:lnSpc>
                <a:spcPct val="150000"/>
              </a:lnSpc>
              <a:spcBef>
                <a:spcPct val="0"/>
              </a:spcBef>
              <a:spcAft>
                <a:spcPct val="0"/>
              </a:spcAft>
              <a:buFont typeface="Wingdings" panose="05000000000000000000" pitchFamily="2" charset="2"/>
              <a:buChar char="Ø"/>
            </a:pPr>
            <a:r>
              <a:rPr lang="en-US" sz="2000" b="1" dirty="0" err="1">
                <a:latin typeface="Times New Roman" panose="02020603050405020304" pitchFamily="18" charset="0"/>
                <a:cs typeface="Times New Roman" panose="02020603050405020304" pitchFamily="18" charset="0"/>
              </a:rPr>
              <a:t>Remasto</a:t>
            </a:r>
            <a:r>
              <a:rPr lang="en-US" sz="2000" dirty="0">
                <a:latin typeface="Times New Roman" panose="02020603050405020304" pitchFamily="18" charset="0"/>
                <a:cs typeface="Times New Roman" panose="02020603050405020304" pitchFamily="18" charset="0"/>
              </a:rPr>
              <a:t> – Offers AI mock interviews and resume builder features, but interview evaluation remains limited to predefined structures and lacks detailed semantic analysis, role-based keyword mapping, and deep ATS-driven formatting intelligence.</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742950" lvl="1" indent="-285750" algn="just" eaLnBrk="0" fontAlgn="base" hangingPunct="0">
              <a:lnSpc>
                <a:spcPct val="150000"/>
              </a:lnSpc>
              <a:spcBef>
                <a:spcPct val="0"/>
              </a:spcBef>
              <a:spcAft>
                <a:spcPct val="0"/>
              </a:spcAft>
              <a:buFont typeface="Wingdings" panose="05000000000000000000" pitchFamily="2" charset="2"/>
              <a:buChar char="Ø"/>
            </a:pP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Pramp</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Provides peer-to-peer mock interviews but lacks adaptive AI feedback and does not evaluate tone, fluency, or non-verbal communication.</a:t>
            </a:r>
          </a:p>
          <a:p>
            <a:pPr marL="742950" lvl="1" indent="-285750" algn="just" eaLnBrk="0" fontAlgn="base" hangingPunct="0">
              <a:lnSpc>
                <a:spcPct val="150000"/>
              </a:lnSpc>
              <a:spcBef>
                <a:spcPct val="0"/>
              </a:spcBef>
              <a:spcAft>
                <a:spcPct val="0"/>
              </a:spcAft>
              <a:buFont typeface="Wingdings" panose="05000000000000000000" pitchFamily="2" charset="2"/>
              <a:buChar char="Ø"/>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InterviewBuddy –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Offers live interviews with experts, yet the evaluation is generic, human-dependent, and not scalable for large numbers of candidates.</a:t>
            </a:r>
          </a:p>
          <a:p>
            <a:pPr marL="742950" lvl="1" indent="-285750" algn="just" eaLnBrk="0" fontAlgn="base" hangingPunct="0">
              <a:lnSpc>
                <a:spcPct val="150000"/>
              </a:lnSpc>
              <a:spcBef>
                <a:spcPct val="0"/>
              </a:spcBef>
              <a:spcAft>
                <a:spcPct val="0"/>
              </a:spcAft>
              <a:buFont typeface="Wingdings" panose="05000000000000000000" pitchFamily="2" charset="2"/>
              <a:buChar char="Ø"/>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HireVue –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Applies AI to video interviews, analyzing speech and facial expressions, but the system is employer-centric and candidates receive little actionable feedback.</a:t>
            </a:r>
          </a:p>
          <a:p>
            <a:pPr marL="742950" lvl="1" indent="-285750" algn="just" eaLnBrk="0" fontAlgn="base" hangingPunct="0">
              <a:lnSpc>
                <a:spcPct val="150000"/>
              </a:lnSpc>
              <a:spcBef>
                <a:spcPct val="0"/>
              </a:spcBef>
              <a:spcAft>
                <a:spcPct val="0"/>
              </a:spcAft>
              <a:buFont typeface="Wingdings" panose="05000000000000000000" pitchFamily="2" charset="2"/>
              <a:buChar char="Ø"/>
            </a:pPr>
            <a:r>
              <a:rPr lang="en-US" altLang="en-US" sz="2000" b="1" dirty="0" err="1">
                <a:latin typeface="Times New Roman" panose="02020603050405020304" pitchFamily="18" charset="0"/>
                <a:cs typeface="Times New Roman" panose="02020603050405020304" pitchFamily="18" charset="0"/>
              </a:rPr>
              <a:t>VMock</a:t>
            </a:r>
            <a:r>
              <a:rPr lang="en-US" altLang="en-US" sz="2000" b="1" dirty="0">
                <a:latin typeface="Times New Roman" panose="02020603050405020304" pitchFamily="18" charset="0"/>
                <a:cs typeface="Times New Roman" panose="02020603050405020304" pitchFamily="18" charset="0"/>
              </a:rPr>
              <a:t> Resume Analyzer – </a:t>
            </a:r>
            <a:r>
              <a:rPr lang="en-US" altLang="en-US" sz="2000" dirty="0">
                <a:latin typeface="Times New Roman" panose="02020603050405020304" pitchFamily="18" charset="0"/>
                <a:cs typeface="Times New Roman" panose="02020603050405020304" pitchFamily="18" charset="0"/>
              </a:rPr>
              <a:t>Produces ATS scores and improvement suggestions, but feedback remains limited, generic, and non-adaptive.</a:t>
            </a:r>
          </a:p>
        </p:txBody>
      </p:sp>
    </p:spTree>
    <p:extLst>
      <p:ext uri="{BB962C8B-B14F-4D97-AF65-F5344CB8AC3E}">
        <p14:creationId xmlns:p14="http://schemas.microsoft.com/office/powerpoint/2010/main" val="42712802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Freeform: Shape 23">
            <a:extLst>
              <a:ext uri="{FF2B5EF4-FFF2-40B4-BE49-F238E27FC236}">
                <a16:creationId xmlns:a16="http://schemas.microsoft.com/office/drawing/2014/main" id="{1981C7C9-49FB-B166-6BAC-49737A2D8C5F}"/>
              </a:ext>
            </a:extLst>
          </p:cNvPr>
          <p:cNvSpPr/>
          <p:nvPr/>
        </p:nvSpPr>
        <p:spPr>
          <a:xfrm flipH="1">
            <a:off x="132636" y="3175819"/>
            <a:ext cx="8309748" cy="992999"/>
          </a:xfrm>
          <a:custGeom>
            <a:avLst/>
            <a:gdLst>
              <a:gd name="connsiteX0" fmla="*/ 0 w 1806825"/>
              <a:gd name="connsiteY0" fmla="*/ 0 h 2041237"/>
              <a:gd name="connsiteX1" fmla="*/ 1806825 w 1806825"/>
              <a:gd name="connsiteY1" fmla="*/ 1806825 h 2041237"/>
              <a:gd name="connsiteX2" fmla="*/ 1791417 w 1806825"/>
              <a:gd name="connsiteY2" fmla="*/ 1856460 h 2041237"/>
              <a:gd name="connsiteX3" fmla="*/ 1512654 w 1806825"/>
              <a:gd name="connsiteY3" fmla="*/ 2041237 h 2041237"/>
              <a:gd name="connsiteX4" fmla="*/ 302538 w 1806825"/>
              <a:gd name="connsiteY4" fmla="*/ 2041236 h 2041237"/>
              <a:gd name="connsiteX5" fmla="*/ 0 w 1806825"/>
              <a:gd name="connsiteY5" fmla="*/ 1738698 h 2041237"/>
              <a:gd name="connsiteX6" fmla="*/ 0 w 1806825"/>
              <a:gd name="connsiteY6" fmla="*/ 0 h 204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06825" h="2041237">
                <a:moveTo>
                  <a:pt x="0" y="0"/>
                </a:moveTo>
                <a:lnTo>
                  <a:pt x="1806825" y="1806825"/>
                </a:lnTo>
                <a:lnTo>
                  <a:pt x="1791417" y="1856460"/>
                </a:lnTo>
                <a:cubicBezTo>
                  <a:pt x="1745489" y="1965045"/>
                  <a:pt x="1637970" y="2041236"/>
                  <a:pt x="1512654" y="2041237"/>
                </a:cubicBezTo>
                <a:lnTo>
                  <a:pt x="302538" y="2041236"/>
                </a:lnTo>
                <a:cubicBezTo>
                  <a:pt x="135451" y="2041236"/>
                  <a:pt x="0" y="1905785"/>
                  <a:pt x="0" y="1738698"/>
                </a:cubicBezTo>
                <a:lnTo>
                  <a:pt x="0" y="0"/>
                </a:lnTo>
                <a:close/>
              </a:path>
            </a:pathLst>
          </a:custGeom>
          <a:solidFill>
            <a:schemeClr val="bg1">
              <a:alpha val="8000"/>
            </a:schemeClr>
          </a:solidFill>
          <a:ln w="2709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150000"/>
              </a:lnSpc>
            </a:pPr>
            <a:endParaRPr lang="en-US" sz="4000" b="1" dirty="0">
              <a:solidFill>
                <a:srgbClr val="000000"/>
              </a:solidFill>
              <a:latin typeface="Times New Roman"/>
              <a:cs typeface="Times New Roman"/>
            </a:endParaRPr>
          </a:p>
        </p:txBody>
      </p:sp>
      <p:sp>
        <p:nvSpPr>
          <p:cNvPr id="4" name="Rectangle 2">
            <a:extLst>
              <a:ext uri="{FF2B5EF4-FFF2-40B4-BE49-F238E27FC236}">
                <a16:creationId xmlns:a16="http://schemas.microsoft.com/office/drawing/2014/main" id="{23ED3D64-9F75-4A3A-26DF-95630C196965}"/>
              </a:ext>
            </a:extLst>
          </p:cNvPr>
          <p:cNvSpPr>
            <a:spLocks noChangeArrowheads="1"/>
          </p:cNvSpPr>
          <p:nvPr/>
        </p:nvSpPr>
        <p:spPr bwMode="auto">
          <a:xfrm>
            <a:off x="0" y="0"/>
            <a:ext cx="12192000" cy="5536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50000"/>
              </a:lnSpc>
              <a:spcBef>
                <a:spcPct val="0"/>
              </a:spcBef>
              <a:spcAft>
                <a:spcPct val="0"/>
              </a:spcAft>
            </a:pPr>
            <a:r>
              <a:rPr lang="en-IN" sz="4000" b="1" dirty="0">
                <a:solidFill>
                  <a:srgbClr val="FF0000"/>
                </a:solidFill>
                <a:latin typeface="Times New Roman"/>
                <a:cs typeface="Times New Roman"/>
              </a:rPr>
              <a:t> Limitations of Existing System</a:t>
            </a:r>
            <a:endParaRPr kumimoji="0" lang="en-US" altLang="en-US" sz="40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endParaRPr>
          </a:p>
          <a:p>
            <a:pPr marL="742950" lvl="1" indent="-285750" algn="just" eaLnBrk="0" fontAlgn="base" hangingPunct="0">
              <a:lnSpc>
                <a:spcPct val="150000"/>
              </a:lnSpc>
              <a:spcBef>
                <a:spcPct val="0"/>
              </a:spcBef>
              <a:spcAft>
                <a:spcPct val="0"/>
              </a:spcAft>
              <a:buFont typeface="Wingdings" panose="05000000000000000000" pitchFamily="2" charset="2"/>
              <a:buChar char="Ø"/>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Interview platforms are generic, asking repetitive questions without adapting to candidate profiles or job roles.</a:t>
            </a:r>
          </a:p>
          <a:p>
            <a:pPr marL="742950" lvl="1" indent="-285750" algn="just" eaLnBrk="0" fontAlgn="base" hangingPunct="0">
              <a:lnSpc>
                <a:spcPct val="150000"/>
              </a:lnSpc>
              <a:spcBef>
                <a:spcPct val="0"/>
              </a:spcBef>
              <a:spcAft>
                <a:spcPct val="0"/>
              </a:spcAft>
              <a:buFont typeface="Wingdings" panose="05000000000000000000" pitchFamily="2" charset="2"/>
              <a:buChar char="Ø"/>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Lack of real-time, personalized feedback on correctness, fluency, tone, expressions, or gestures.</a:t>
            </a:r>
          </a:p>
          <a:p>
            <a:pPr marL="742950" lvl="1" indent="-285750" algn="just" eaLnBrk="0" fontAlgn="base" hangingPunct="0">
              <a:lnSpc>
                <a:spcPct val="150000"/>
              </a:lnSpc>
              <a:spcBef>
                <a:spcPct val="0"/>
              </a:spcBef>
              <a:spcAft>
                <a:spcPct val="0"/>
              </a:spcAft>
              <a:buFont typeface="Wingdings" panose="05000000000000000000" pitchFamily="2" charset="2"/>
              <a:buChar char="Ø"/>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Resume builders emphasize templates and design, neglecting ATS compliance and recruiter requirements.</a:t>
            </a:r>
          </a:p>
          <a:p>
            <a:pPr marL="742950" lvl="1" indent="-285750" algn="just" eaLnBrk="0" fontAlgn="base" hangingPunct="0">
              <a:lnSpc>
                <a:spcPct val="150000"/>
              </a:lnSpc>
              <a:spcBef>
                <a:spcPct val="0"/>
              </a:spcBef>
              <a:spcAft>
                <a:spcPct val="0"/>
              </a:spcAft>
              <a:buFont typeface="Wingdings" panose="05000000000000000000" pitchFamily="2" charset="2"/>
              <a:buChar char="Ø"/>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ATS tools rely on surface-level keyword matching without semantic similarity or contextual analysis.</a:t>
            </a:r>
          </a:p>
          <a:p>
            <a:pPr marL="742950" lvl="1" indent="-285750" algn="just" eaLnBrk="0" fontAlgn="base" hangingPunct="0">
              <a:lnSpc>
                <a:spcPct val="150000"/>
              </a:lnSpc>
              <a:spcBef>
                <a:spcPct val="0"/>
              </a:spcBef>
              <a:spcAft>
                <a:spcPct val="0"/>
              </a:spcAft>
              <a:buFont typeface="Wingdings" panose="05000000000000000000" pitchFamily="2" charset="2"/>
              <a:buChar char="Ø"/>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Feedback from existing systems is often static and non-adaptive, providing the same suggestions to all users.</a:t>
            </a:r>
          </a:p>
          <a:p>
            <a:pPr marL="742950" lvl="1" indent="-285750" algn="just" eaLnBrk="0" fontAlgn="base" hangingPunct="0">
              <a:lnSpc>
                <a:spcPct val="150000"/>
              </a:lnSpc>
              <a:spcBef>
                <a:spcPct val="0"/>
              </a:spcBef>
              <a:spcAft>
                <a:spcPct val="0"/>
              </a:spcAft>
              <a:buFont typeface="Wingdings" panose="05000000000000000000" pitchFamily="2" charset="2"/>
              <a:buChar char="Ø"/>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Existing systems do not provide a holistic approach that prepares candidates for both interviews and resume screening.</a:t>
            </a:r>
          </a:p>
          <a:p>
            <a:pPr marL="742950" lvl="1" indent="-285750" algn="just" eaLnBrk="0" fontAlgn="base" hangingPunct="0">
              <a:lnSpc>
                <a:spcPct val="150000"/>
              </a:lnSpc>
              <a:spcBef>
                <a:spcPct val="0"/>
              </a:spcBef>
              <a:spcAft>
                <a:spcPct val="0"/>
              </a:spcAft>
              <a:buFont typeface="Wingdings" panose="05000000000000000000" pitchFamily="2" charset="2"/>
              <a:buChar char="Ø"/>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Non-verbal communication (facial expressions, eye contact, posture) is largely ignored in most interview simulators.</a:t>
            </a:r>
          </a:p>
          <a:p>
            <a:pPr marR="0" lvl="0" algn="just" defTabSz="914400" rtl="0" eaLnBrk="0" fontAlgn="base" latinLnBrk="0" hangingPunct="0">
              <a:lnSpc>
                <a:spcPct val="150000"/>
              </a:lnSpc>
              <a:spcBef>
                <a:spcPct val="0"/>
              </a:spcBef>
              <a:spcAft>
                <a:spcPct val="0"/>
              </a:spcAft>
              <a:buClrTx/>
              <a:buSzTx/>
              <a:tabLst/>
            </a:pP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7099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8" descr="Eleven Trending AI Chatbot Platforms | by Kristen Carter | HackerNoon.com |  Medium">
            <a:extLst>
              <a:ext uri="{FF2B5EF4-FFF2-40B4-BE49-F238E27FC236}">
                <a16:creationId xmlns:a16="http://schemas.microsoft.com/office/drawing/2014/main" id="{E8106599-0BD6-3D18-3674-273A84DDEC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7388" t="-7" r="37866" b="100000"/>
          <a:stretch>
            <a:fillRect/>
          </a:stretch>
        </p:blipFill>
        <p:spPr bwMode="auto">
          <a:xfrm>
            <a:off x="107" y="-512"/>
            <a:ext cx="5961588" cy="513"/>
          </a:xfrm>
          <a:custGeom>
            <a:avLst/>
            <a:gdLst>
              <a:gd name="connsiteX0" fmla="*/ 0 w 5961588"/>
              <a:gd name="connsiteY0" fmla="*/ 0 h 513"/>
              <a:gd name="connsiteX1" fmla="*/ 5961075 w 5961588"/>
              <a:gd name="connsiteY1" fmla="*/ 0 h 513"/>
              <a:gd name="connsiteX2" fmla="*/ 5961588 w 5961588"/>
              <a:gd name="connsiteY2" fmla="*/ 513 h 513"/>
              <a:gd name="connsiteX3" fmla="*/ 0 w 5961588"/>
              <a:gd name="connsiteY3" fmla="*/ 513 h 513"/>
              <a:gd name="connsiteX4" fmla="*/ 0 w 5961588"/>
              <a:gd name="connsiteY4" fmla="*/ 0 h 5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1588" h="513">
                <a:moveTo>
                  <a:pt x="0" y="0"/>
                </a:moveTo>
                <a:lnTo>
                  <a:pt x="5961075" y="0"/>
                </a:lnTo>
                <a:lnTo>
                  <a:pt x="5961588" y="513"/>
                </a:lnTo>
                <a:lnTo>
                  <a:pt x="0" y="513"/>
                </a:lnTo>
                <a:lnTo>
                  <a:pt x="0" y="0"/>
                </a:lnTo>
                <a:close/>
              </a:path>
            </a:pathLst>
          </a:cu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F1E1289F-4364-7B54-9AC1-A50E4A129D2C}"/>
              </a:ext>
            </a:extLst>
          </p:cNvPr>
          <p:cNvSpPr txBox="1"/>
          <p:nvPr/>
        </p:nvSpPr>
        <p:spPr>
          <a:xfrm>
            <a:off x="429210" y="925845"/>
            <a:ext cx="5240605" cy="400110"/>
          </a:xfrm>
          <a:prstGeom prst="rect">
            <a:avLst/>
          </a:prstGeom>
          <a:noFill/>
        </p:spPr>
        <p:txBody>
          <a:bodyPr wrap="square" lIns="91440" tIns="45720" rIns="91440" bIns="45720" anchor="t">
            <a:spAutoFit/>
          </a:bodyPr>
          <a:lstStyle/>
          <a:p>
            <a:pPr marL="342900" indent="-342900">
              <a:buFont typeface="Wingdings"/>
              <a:buChar char="Ø"/>
            </a:pPr>
            <a:endParaRPr lang="en-IN" sz="2000" b="1">
              <a:solidFill>
                <a:srgbClr val="000000"/>
              </a:solidFill>
              <a:latin typeface="Montserrat" panose="00000500000000000000" pitchFamily="2" charset="0"/>
            </a:endParaRPr>
          </a:p>
        </p:txBody>
      </p:sp>
      <p:sp>
        <p:nvSpPr>
          <p:cNvPr id="2" name="TextBox 1">
            <a:extLst>
              <a:ext uri="{FF2B5EF4-FFF2-40B4-BE49-F238E27FC236}">
                <a16:creationId xmlns:a16="http://schemas.microsoft.com/office/drawing/2014/main" id="{47347C6D-64D2-C7E1-1C9F-D268712B1783}"/>
              </a:ext>
            </a:extLst>
          </p:cNvPr>
          <p:cNvSpPr txBox="1"/>
          <p:nvPr/>
        </p:nvSpPr>
        <p:spPr>
          <a:xfrm>
            <a:off x="0" y="-512"/>
            <a:ext cx="12191893" cy="5028556"/>
          </a:xfrm>
          <a:prstGeom prst="rect">
            <a:avLst/>
          </a:prstGeom>
          <a:noFill/>
        </p:spPr>
        <p:txBody>
          <a:bodyPr wrap="square" lIns="91440" tIns="45720" rIns="91440" bIns="45720" rtlCol="0" anchor="t">
            <a:spAutoFit/>
          </a:bodyPr>
          <a:lstStyle/>
          <a:p>
            <a:pPr algn="just">
              <a:lnSpc>
                <a:spcPct val="150000"/>
              </a:lnSpc>
            </a:pPr>
            <a:r>
              <a:rPr lang="en-US" sz="4000" b="1" dirty="0">
                <a:solidFill>
                  <a:srgbClr val="FF0000"/>
                </a:solidFill>
                <a:latin typeface="Times New Roman" panose="02020603050405020304" pitchFamily="18" charset="0"/>
                <a:cs typeface="Times New Roman" panose="02020603050405020304" pitchFamily="18" charset="0"/>
              </a:rPr>
              <a:t> Problem Statement</a:t>
            </a:r>
          </a:p>
          <a:p>
            <a:pPr marL="742950" lvl="1" indent="-28575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Traditional recruitment systems often reject capable candidates, not due to lack of skills, but because of poor interview performance and non-ATS-compliant resumes. Interviews are hindered by low confidence and lack of preparation, while resumes fail ATS checks for missing keywords and improper formatting. Existing tools are generic and lack personalized, real-time feedback. </a:t>
            </a:r>
          </a:p>
          <a:p>
            <a:pPr marL="742950" lvl="1" indent="-28575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We propose an AI-enabled Interview Simulation and ATS-Compatible Resume System that combines NLP, Deep Learning, and ML models to form an AI agent to deliver personalized feedback, optimize resumes, and improve selection chances.</a:t>
            </a: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159879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0D9F03C3-E064-9800-61A4-D3031B01060E}"/>
              </a:ext>
            </a:extLst>
          </p:cNvPr>
          <p:cNvGrpSpPr/>
          <p:nvPr/>
        </p:nvGrpSpPr>
        <p:grpSpPr>
          <a:xfrm>
            <a:off x="155822" y="103755"/>
            <a:ext cx="10826504" cy="1280886"/>
            <a:chOff x="155822" y="103755"/>
            <a:chExt cx="10826504" cy="1280886"/>
          </a:xfrm>
        </p:grpSpPr>
        <p:sp>
          <p:nvSpPr>
            <p:cNvPr id="10" name="TextBox 2">
              <a:extLst>
                <a:ext uri="{FF2B5EF4-FFF2-40B4-BE49-F238E27FC236}">
                  <a16:creationId xmlns:a16="http://schemas.microsoft.com/office/drawing/2014/main" id="{90107E89-9BFE-C1CD-B46C-2F0C2F98E261}"/>
                </a:ext>
              </a:extLst>
            </p:cNvPr>
            <p:cNvSpPr txBox="1"/>
            <p:nvPr/>
          </p:nvSpPr>
          <p:spPr>
            <a:xfrm>
              <a:off x="155822" y="103755"/>
              <a:ext cx="4910977" cy="707886"/>
            </a:xfrm>
            <a:prstGeom prst="rect">
              <a:avLst/>
            </a:prstGeom>
            <a:no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4000" b="1" u="sng">
                  <a:solidFill>
                    <a:schemeClr val="bg1"/>
                  </a:solidFill>
                  <a:latin typeface="Montserrat"/>
                </a:rPr>
                <a:t>Proposed System</a:t>
              </a:r>
              <a:endParaRPr lang="en-US" sz="4000" b="1" u="sng">
                <a:solidFill>
                  <a:schemeClr val="bg1"/>
                </a:solidFill>
                <a:latin typeface="Montserrat" panose="00000500000000000000" pitchFamily="2" charset="0"/>
              </a:endParaRPr>
            </a:p>
          </p:txBody>
        </p:sp>
        <p:sp>
          <p:nvSpPr>
            <p:cNvPr id="11" name="TextBox 3">
              <a:extLst>
                <a:ext uri="{FF2B5EF4-FFF2-40B4-BE49-F238E27FC236}">
                  <a16:creationId xmlns:a16="http://schemas.microsoft.com/office/drawing/2014/main" id="{5C35C222-3FF0-C7E8-A611-EA9598AE829D}"/>
                </a:ext>
              </a:extLst>
            </p:cNvPr>
            <p:cNvSpPr txBox="1"/>
            <p:nvPr/>
          </p:nvSpPr>
          <p:spPr>
            <a:xfrm>
              <a:off x="6210818" y="923617"/>
              <a:ext cx="4771508" cy="461024"/>
            </a:xfrm>
            <a:prstGeom prst="rect">
              <a:avLst/>
            </a:prstGeom>
            <a:no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endParaRPr lang="en-US">
                <a:solidFill>
                  <a:schemeClr val="bg1"/>
                </a:solidFill>
                <a:latin typeface="Montserrat" panose="00000500000000000000" pitchFamily="2" charset="0"/>
              </a:endParaRPr>
            </a:p>
          </p:txBody>
        </p:sp>
      </p:grpSp>
      <p:sp>
        <p:nvSpPr>
          <p:cNvPr id="6" name="Content Placeholder 6">
            <a:extLst>
              <a:ext uri="{FF2B5EF4-FFF2-40B4-BE49-F238E27FC236}">
                <a16:creationId xmlns:a16="http://schemas.microsoft.com/office/drawing/2014/main" id="{0CC80786-ACDE-9BEE-71EF-0D7794A2FF67}"/>
              </a:ext>
            </a:extLst>
          </p:cNvPr>
          <p:cNvSpPr txBox="1">
            <a:spLocks/>
          </p:cNvSpPr>
          <p:nvPr/>
        </p:nvSpPr>
        <p:spPr>
          <a:xfrm>
            <a:off x="202532" y="798128"/>
            <a:ext cx="11984522" cy="6059689"/>
          </a:xfrm>
          <a:prstGeom prst="rect">
            <a:avLst/>
          </a:prstGeom>
        </p:spPr>
        <p:txBody>
          <a:bodyPr vert="horz" lIns="91440" tIns="45720" rIns="91440" bIns="4572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endParaRPr lang="en-US" sz="2000" dirty="0">
              <a:solidFill>
                <a:schemeClr val="tx1">
                  <a:lumMod val="95000"/>
                  <a:lumOff val="5000"/>
                </a:schemeClr>
              </a:solidFill>
              <a:latin typeface="Times New Roman"/>
              <a:ea typeface="Calibri"/>
              <a:cs typeface="Calibri"/>
            </a:endParaRPr>
          </a:p>
        </p:txBody>
      </p:sp>
      <p:sp>
        <p:nvSpPr>
          <p:cNvPr id="4" name="Rectangle 2">
            <a:extLst>
              <a:ext uri="{FF2B5EF4-FFF2-40B4-BE49-F238E27FC236}">
                <a16:creationId xmlns:a16="http://schemas.microsoft.com/office/drawing/2014/main" id="{31704F8F-E33B-F410-270B-C45A9C9146BB}"/>
              </a:ext>
            </a:extLst>
          </p:cNvPr>
          <p:cNvSpPr>
            <a:spLocks noChangeArrowheads="1"/>
          </p:cNvSpPr>
          <p:nvPr/>
        </p:nvSpPr>
        <p:spPr bwMode="auto">
          <a:xfrm>
            <a:off x="4945" y="-207725"/>
            <a:ext cx="12187055" cy="696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50000"/>
              </a:lnSpc>
              <a:spcBef>
                <a:spcPct val="0"/>
              </a:spcBef>
              <a:spcAft>
                <a:spcPct val="0"/>
              </a:spcAft>
            </a:pPr>
            <a:r>
              <a:rPr lang="en-US" sz="4000" b="1" dirty="0">
                <a:solidFill>
                  <a:srgbClr val="FF0000"/>
                </a:solidFill>
                <a:latin typeface="Times New Roman" panose="02020603050405020304" pitchFamily="18" charset="0"/>
                <a:cs typeface="Times New Roman" panose="02020603050405020304" pitchFamily="18" charset="0"/>
              </a:rPr>
              <a:t> Proposed System</a:t>
            </a:r>
            <a:r>
              <a:rPr lang="en-US" sz="4000" dirty="0">
                <a:solidFill>
                  <a:srgbClr val="FF0000"/>
                </a:solidFill>
                <a:latin typeface="Times New Roman" panose="02020603050405020304" pitchFamily="18" charset="0"/>
                <a:cs typeface="Times New Roman" panose="02020603050405020304" pitchFamily="18" charset="0"/>
              </a:rPr>
              <a:t>​</a:t>
            </a:r>
            <a:endParaRPr kumimoji="0" lang="en-US" altLang="en-US" sz="180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endParaRPr>
          </a:p>
          <a:p>
            <a:pPr marL="742950" lvl="1" indent="-285750" algn="just" eaLnBrk="0" fontAlgn="base" hangingPunct="0">
              <a:lnSpc>
                <a:spcPct val="150000"/>
              </a:lnSpc>
              <a:spcBef>
                <a:spcPct val="0"/>
              </a:spcBef>
              <a:spcAft>
                <a:spcPct val="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proposed system follows a </a:t>
            </a:r>
            <a:r>
              <a:rPr lang="en-US" sz="2000" b="1" dirty="0">
                <a:latin typeface="Times New Roman" panose="02020603050405020304" pitchFamily="18" charset="0"/>
                <a:cs typeface="Times New Roman" panose="02020603050405020304" pitchFamily="18" charset="0"/>
              </a:rPr>
              <a:t>three-tier architectural model</a:t>
            </a:r>
            <a:r>
              <a:rPr lang="en-US" sz="2000" dirty="0">
                <a:latin typeface="Times New Roman" panose="02020603050405020304" pitchFamily="18" charset="0"/>
                <a:cs typeface="Times New Roman" panose="02020603050405020304" pitchFamily="18" charset="0"/>
              </a:rPr>
              <a:t> consisting of presentation, API, and data persistence layers.</a:t>
            </a:r>
          </a:p>
          <a:p>
            <a:pPr marL="742950" lvl="1" indent="-285750" algn="just" eaLnBrk="0" fontAlgn="base" hangingPunct="0">
              <a:lnSpc>
                <a:spcPct val="150000"/>
              </a:lnSpc>
              <a:spcBef>
                <a:spcPct val="0"/>
              </a:spcBef>
              <a:spcAft>
                <a:spcPct val="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presentation layer is developed using </a:t>
            </a:r>
            <a:r>
              <a:rPr lang="en-US" sz="2000" b="1" dirty="0">
                <a:latin typeface="Times New Roman" panose="02020603050405020304" pitchFamily="18" charset="0"/>
                <a:cs typeface="Times New Roman" panose="02020603050405020304" pitchFamily="18" charset="0"/>
              </a:rPr>
              <a:t>React 19 with TypeScript</a:t>
            </a:r>
            <a:r>
              <a:rPr lang="en-US" sz="2000" dirty="0">
                <a:latin typeface="Times New Roman" panose="02020603050405020304" pitchFamily="18" charset="0"/>
                <a:cs typeface="Times New Roman" panose="02020603050405020304" pitchFamily="18" charset="0"/>
              </a:rPr>
              <a:t>, while the backend is implemented using </a:t>
            </a:r>
            <a:r>
              <a:rPr lang="en-US" sz="2000" b="1" dirty="0">
                <a:latin typeface="Times New Roman" panose="02020603050405020304" pitchFamily="18" charset="0"/>
                <a:cs typeface="Times New Roman" panose="02020603050405020304" pitchFamily="18" charset="0"/>
              </a:rPr>
              <a:t>Next.js 16 RESTful services</a:t>
            </a:r>
            <a:r>
              <a:rPr lang="en-US" sz="2000" dirty="0">
                <a:latin typeface="Times New Roman" panose="02020603050405020304" pitchFamily="18" charset="0"/>
                <a:cs typeface="Times New Roman" panose="02020603050405020304" pitchFamily="18" charset="0"/>
              </a:rPr>
              <a:t>, with </a:t>
            </a:r>
            <a:r>
              <a:rPr lang="en-US" sz="2000" b="1" dirty="0">
                <a:latin typeface="Times New Roman" panose="02020603050405020304" pitchFamily="18" charset="0"/>
                <a:cs typeface="Times New Roman" panose="02020603050405020304" pitchFamily="18" charset="0"/>
              </a:rPr>
              <a:t>PostgreSQL and Prisma ORM</a:t>
            </a:r>
            <a:r>
              <a:rPr lang="en-US" sz="2000" dirty="0">
                <a:latin typeface="Times New Roman" panose="02020603050405020304" pitchFamily="18" charset="0"/>
                <a:cs typeface="Times New Roman" panose="02020603050405020304" pitchFamily="18" charset="0"/>
              </a:rPr>
              <a:t> for persistent storage.</a:t>
            </a:r>
          </a:p>
          <a:p>
            <a:pPr marL="742950" lvl="1" indent="-285750" algn="just" eaLnBrk="0" fontAlgn="base" hangingPunct="0">
              <a:lnSpc>
                <a:spcPct val="150000"/>
              </a:lnSpc>
              <a:spcBef>
                <a:spcPct val="0"/>
              </a:spcBef>
              <a:spcAft>
                <a:spcPct val="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interview process is managed by a dedicated </a:t>
            </a:r>
            <a:r>
              <a:rPr lang="en-US" sz="2000" b="1" dirty="0">
                <a:latin typeface="Times New Roman" panose="02020603050405020304" pitchFamily="18" charset="0"/>
                <a:cs typeface="Times New Roman" panose="02020603050405020304" pitchFamily="18" charset="0"/>
              </a:rPr>
              <a:t>Q-Learning–based Interview Agent</a:t>
            </a:r>
            <a:r>
              <a:rPr lang="en-US" sz="2000" dirty="0">
                <a:latin typeface="Times New Roman" panose="02020603050405020304" pitchFamily="18" charset="0"/>
                <a:cs typeface="Times New Roman" panose="02020603050405020304" pitchFamily="18" charset="0"/>
              </a:rPr>
              <a:t> operating over </a:t>
            </a:r>
            <a:r>
              <a:rPr lang="en-US" sz="2000" b="1" dirty="0">
                <a:latin typeface="Times New Roman" panose="02020603050405020304" pitchFamily="18" charset="0"/>
                <a:cs typeface="Times New Roman" panose="02020603050405020304" pitchFamily="18" charset="0"/>
              </a:rPr>
              <a:t>87,846 discrete states</a:t>
            </a:r>
            <a:r>
              <a:rPr lang="en-US" sz="2000" dirty="0">
                <a:latin typeface="Times New Roman" panose="02020603050405020304" pitchFamily="18" charset="0"/>
                <a:cs typeface="Times New Roman" panose="02020603050405020304" pitchFamily="18" charset="0"/>
              </a:rPr>
              <a:t>, considering technical knowledge, experience, education, communication, confidence, and cultural fit.</a:t>
            </a:r>
          </a:p>
          <a:p>
            <a:pPr marL="742950" lvl="1" indent="-285750" algn="just" eaLnBrk="0" fontAlgn="base" hangingPunct="0">
              <a:lnSpc>
                <a:spcPct val="150000"/>
              </a:lnSpc>
              <a:spcBef>
                <a:spcPct val="0"/>
              </a:spcBef>
              <a:spcAft>
                <a:spcPct val="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Interview Agent employs an </a:t>
            </a:r>
            <a:r>
              <a:rPr lang="en-US" sz="2000" b="1" dirty="0">
                <a:latin typeface="Times New Roman" panose="02020603050405020304" pitchFamily="18" charset="0"/>
                <a:cs typeface="Times New Roman" panose="02020603050405020304" pitchFamily="18" charset="0"/>
              </a:rPr>
              <a:t>ε-greedy policy (75% exploitation, 25% exploration)</a:t>
            </a:r>
            <a:r>
              <a:rPr lang="en-US" sz="2000" dirty="0">
                <a:latin typeface="Times New Roman" panose="02020603050405020304" pitchFamily="18" charset="0"/>
                <a:cs typeface="Times New Roman" panose="02020603050405020304" pitchFamily="18" charset="0"/>
              </a:rPr>
              <a:t> and supports real-time adaptive questioning with over </a:t>
            </a:r>
            <a:r>
              <a:rPr lang="en-US" sz="2000" b="1" dirty="0">
                <a:latin typeface="Times New Roman" panose="02020603050405020304" pitchFamily="18" charset="0"/>
                <a:cs typeface="Times New Roman" panose="02020603050405020304" pitchFamily="18" charset="0"/>
              </a:rPr>
              <a:t>2.5 billion possible question combinations</a:t>
            </a:r>
            <a:r>
              <a:rPr lang="en-US" sz="2000" dirty="0">
                <a:latin typeface="Times New Roman" panose="02020603050405020304" pitchFamily="18" charset="0"/>
                <a:cs typeface="Times New Roman" panose="02020603050405020304" pitchFamily="18" charset="0"/>
              </a:rPr>
              <a:t>.</a:t>
            </a:r>
          </a:p>
          <a:p>
            <a:pPr marL="742950" lvl="1" indent="-285750" algn="just" eaLnBrk="0" fontAlgn="base" hangingPunct="0">
              <a:lnSpc>
                <a:spcPct val="150000"/>
              </a:lnSpc>
              <a:spcBef>
                <a:spcPct val="0"/>
              </a:spcBef>
              <a:spcAft>
                <a:spcPct val="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ATS recruitment process is executed through a </a:t>
            </a:r>
            <a:r>
              <a:rPr lang="en-US" sz="2000" b="1" dirty="0">
                <a:latin typeface="Times New Roman" panose="02020603050405020304" pitchFamily="18" charset="0"/>
                <a:cs typeface="Times New Roman" panose="02020603050405020304" pitchFamily="18" charset="0"/>
              </a:rPr>
              <a:t>collaborative multi-agent framework</a:t>
            </a:r>
            <a:r>
              <a:rPr lang="en-US" sz="2000" dirty="0">
                <a:latin typeface="Times New Roman" panose="02020603050405020304" pitchFamily="18" charset="0"/>
                <a:cs typeface="Times New Roman" panose="02020603050405020304" pitchFamily="18" charset="0"/>
              </a:rPr>
              <a:t> consisting of three specialized AI agents.</a:t>
            </a:r>
          </a:p>
          <a:p>
            <a:pPr marL="742950" lvl="1" indent="-285750" algn="just" eaLnBrk="0" fontAlgn="base" hangingPunct="0">
              <a:lnSpc>
                <a:spcPct val="150000"/>
              </a:lnSpc>
              <a:spcBef>
                <a:spcPct val="0"/>
              </a:spcBef>
              <a:spcAft>
                <a:spcPct val="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Resume Analysis Agent</a:t>
            </a:r>
            <a:r>
              <a:rPr lang="en-US" sz="2000" dirty="0">
                <a:latin typeface="Times New Roman" panose="02020603050405020304" pitchFamily="18" charset="0"/>
                <a:cs typeface="Times New Roman" panose="02020603050405020304" pitchFamily="18" charset="0"/>
              </a:rPr>
              <a:t> performs NLP-based feature extraction including skills, experience, semantic relevance, and cultural indicators, using a technology vocabulary exceeding </a:t>
            </a:r>
            <a:r>
              <a:rPr lang="en-US" sz="2000" b="1" dirty="0">
                <a:latin typeface="Times New Roman" panose="02020603050405020304" pitchFamily="18" charset="0"/>
                <a:cs typeface="Times New Roman" panose="02020603050405020304" pitchFamily="18" charset="0"/>
              </a:rPr>
              <a:t>1000+ domain terms</a:t>
            </a:r>
            <a:r>
              <a:rPr lang="en-US" sz="2000" dirty="0">
                <a:latin typeface="Times New Roman" panose="02020603050405020304" pitchFamily="18" charset="0"/>
                <a:cs typeface="Times New Roman" panose="02020603050405020304" pitchFamily="18" charset="0"/>
              </a:rPr>
              <a:t>.</a:t>
            </a: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724408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720007E-902C-92A8-0F0E-C5C40859CF1A}"/>
              </a:ext>
            </a:extLst>
          </p:cNvPr>
          <p:cNvSpPr txBox="1"/>
          <p:nvPr/>
        </p:nvSpPr>
        <p:spPr>
          <a:xfrm>
            <a:off x="1" y="196645"/>
            <a:ext cx="12191999" cy="557678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742950" lvl="1" indent="-285750" algn="just" eaLnBrk="0" fontAlgn="base" hangingPunct="0">
              <a:lnSpc>
                <a:spcPct val="150000"/>
              </a:lnSpc>
              <a:spcBef>
                <a:spcPct val="0"/>
              </a:spcBef>
              <a:spcAft>
                <a:spcPct val="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Q-Learning Hiring Agent</a:t>
            </a:r>
            <a:r>
              <a:rPr lang="en-US" sz="2000" dirty="0">
                <a:latin typeface="Times New Roman" panose="02020603050405020304" pitchFamily="18" charset="0"/>
                <a:cs typeface="Times New Roman" panose="02020603050405020304" pitchFamily="18" charset="0"/>
              </a:rPr>
              <a:t> evaluates candidate profiles using a reinforcement learning model with </a:t>
            </a:r>
            <a:r>
              <a:rPr lang="en-US" sz="2000" b="1" dirty="0">
                <a:latin typeface="Times New Roman" panose="02020603050405020304" pitchFamily="18" charset="0"/>
                <a:cs typeface="Times New Roman" panose="02020603050405020304" pitchFamily="18" charset="0"/>
              </a:rPr>
              <a:t>1.7 million state combinations</a:t>
            </a:r>
            <a:r>
              <a:rPr lang="en-US" sz="2000" dirty="0">
                <a:latin typeface="Times New Roman" panose="02020603050405020304" pitchFamily="18" charset="0"/>
                <a:cs typeface="Times New Roman" panose="02020603050405020304" pitchFamily="18" charset="0"/>
              </a:rPr>
              <a:t>, producing decisions such as </a:t>
            </a:r>
            <a:r>
              <a:rPr lang="en-US" sz="2000" b="1" dirty="0">
                <a:latin typeface="Times New Roman" panose="02020603050405020304" pitchFamily="18" charset="0"/>
                <a:cs typeface="Times New Roman" panose="02020603050405020304" pitchFamily="18" charset="0"/>
              </a:rPr>
              <a:t>Hire, Reject, or Consider</a:t>
            </a:r>
            <a:r>
              <a:rPr lang="en-US" sz="2000" dirty="0">
                <a:latin typeface="Times New Roman" panose="02020603050405020304" pitchFamily="18" charset="0"/>
                <a:cs typeface="Times New Roman" panose="02020603050405020304" pitchFamily="18" charset="0"/>
              </a:rPr>
              <a:t> with an observed accuracy of </a:t>
            </a:r>
            <a:r>
              <a:rPr lang="en-US" sz="2000" b="1" dirty="0">
                <a:latin typeface="Times New Roman" panose="02020603050405020304" pitchFamily="18" charset="0"/>
                <a:cs typeface="Times New Roman" panose="02020603050405020304" pitchFamily="18" charset="0"/>
              </a:rPr>
              <a:t>94.7%</a:t>
            </a:r>
            <a:r>
              <a:rPr lang="en-US" sz="2000" dirty="0">
                <a:latin typeface="Times New Roman" panose="02020603050405020304" pitchFamily="18" charset="0"/>
                <a:cs typeface="Times New Roman" panose="02020603050405020304" pitchFamily="18" charset="0"/>
              </a:rPr>
              <a:t>.</a:t>
            </a:r>
          </a:p>
          <a:p>
            <a:pPr marL="742950" lvl="1" indent="-285750" algn="just" eaLnBrk="0" fontAlgn="base" hangingPunct="0">
              <a:lnSpc>
                <a:spcPct val="150000"/>
              </a:lnSpc>
              <a:spcBef>
                <a:spcPct val="0"/>
              </a:spcBef>
              <a:spcAft>
                <a:spcPct val="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Intelligent Neural Network Agent</a:t>
            </a:r>
            <a:r>
              <a:rPr lang="en-US" sz="2000" dirty="0">
                <a:latin typeface="Times New Roman" panose="02020603050405020304" pitchFamily="18" charset="0"/>
                <a:cs typeface="Times New Roman" panose="02020603050405020304" pitchFamily="18" charset="0"/>
              </a:rPr>
              <a:t> acts as a secondary decision system, providing pattern recognition, continuous learning, and explainable validation of hiring outcomes.</a:t>
            </a:r>
          </a:p>
          <a:p>
            <a:pPr marL="742950" lvl="1" indent="-285750" algn="just" eaLnBrk="0" fontAlgn="base" hangingPunct="0">
              <a:lnSpc>
                <a:spcPct val="150000"/>
              </a:lnSpc>
              <a:spcBef>
                <a:spcPct val="0"/>
              </a:spcBef>
              <a:spcAft>
                <a:spcPct val="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All ATS agents operate collaboratively, synthesizing their outputs to generate a </a:t>
            </a:r>
            <a:r>
              <a:rPr lang="en-US" sz="2000" b="1" dirty="0">
                <a:latin typeface="Times New Roman" panose="02020603050405020304" pitchFamily="18" charset="0"/>
                <a:cs typeface="Times New Roman" panose="02020603050405020304" pitchFamily="18" charset="0"/>
              </a:rPr>
              <a:t>final unified recruitment recommendation</a:t>
            </a:r>
            <a:r>
              <a:rPr lang="en-US" sz="2000" dirty="0">
                <a:latin typeface="Times New Roman" panose="02020603050405020304" pitchFamily="18" charset="0"/>
                <a:cs typeface="Times New Roman" panose="02020603050405020304" pitchFamily="18" charset="0"/>
              </a:rPr>
              <a:t>.</a:t>
            </a:r>
          </a:p>
          <a:p>
            <a:pPr marL="742950" lvl="1" indent="-285750" algn="just" eaLnBrk="0" fontAlgn="base" hangingPunct="0">
              <a:lnSpc>
                <a:spcPct val="150000"/>
              </a:lnSpc>
              <a:spcBef>
                <a:spcPct val="0"/>
              </a:spcBef>
              <a:spcAft>
                <a:spcPct val="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Supporting technologies include </a:t>
            </a:r>
            <a:r>
              <a:rPr lang="en-US" sz="2000" b="1" dirty="0" err="1">
                <a:latin typeface="Times New Roman" panose="02020603050405020304" pitchFamily="18" charset="0"/>
                <a:cs typeface="Times New Roman" panose="02020603050405020304" pitchFamily="18" charset="0"/>
              </a:rPr>
              <a:t>MediaPipe</a:t>
            </a:r>
            <a:r>
              <a:rPr lang="en-US" sz="2000" b="1" dirty="0">
                <a:latin typeface="Times New Roman" panose="02020603050405020304" pitchFamily="18" charset="0"/>
                <a:cs typeface="Times New Roman" panose="02020603050405020304" pitchFamily="18" charset="0"/>
              </a:rPr>
              <a:t>-based facial expression analysis</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speech transcription services</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secure cloud storage</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security middleware for CSRF, XSS, and rate limiting protection</a:t>
            </a:r>
            <a:r>
              <a:rPr lang="en-US" sz="2000"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Interview Performance Report</a:t>
            </a:r>
          </a:p>
          <a:p>
            <a:pPr marL="742950" lvl="1" indent="-285750" algn="just" eaLnBrk="0" fontAlgn="base" hangingPunct="0">
              <a:lnSpc>
                <a:spcPct val="150000"/>
              </a:lnSpc>
              <a:spcBef>
                <a:spcPct val="0"/>
              </a:spcBef>
              <a:spcAft>
                <a:spcPct val="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system maintains </a:t>
            </a:r>
            <a:r>
              <a:rPr lang="en-US" sz="2000" b="1" dirty="0">
                <a:latin typeface="Times New Roman" panose="02020603050405020304" pitchFamily="18" charset="0"/>
                <a:cs typeface="Times New Roman" panose="02020603050405020304" pitchFamily="18" charset="0"/>
              </a:rPr>
              <a:t>11 normalized relational data models</a:t>
            </a:r>
            <a:r>
              <a:rPr lang="en-US" sz="2000" dirty="0">
                <a:latin typeface="Times New Roman" panose="02020603050405020304" pitchFamily="18" charset="0"/>
                <a:cs typeface="Times New Roman" panose="02020603050405020304" pitchFamily="18" charset="0"/>
              </a:rPr>
              <a:t> with enforced referential integrity, cascading rules, and version-controlled audit tracking.</a:t>
            </a:r>
          </a:p>
        </p:txBody>
      </p:sp>
    </p:spTree>
    <p:extLst>
      <p:ext uri="{BB962C8B-B14F-4D97-AF65-F5344CB8AC3E}">
        <p14:creationId xmlns:p14="http://schemas.microsoft.com/office/powerpoint/2010/main" val="3547682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198A4B7-6AAE-5CD7-CB4C-C2F17A0E98D8}"/>
              </a:ext>
            </a:extLst>
          </p:cNvPr>
          <p:cNvSpPr>
            <a:spLocks noChangeArrowheads="1"/>
          </p:cNvSpPr>
          <p:nvPr/>
        </p:nvSpPr>
        <p:spPr bwMode="auto">
          <a:xfrm>
            <a:off x="0" y="-110527"/>
            <a:ext cx="12192000" cy="6500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50000"/>
              </a:lnSpc>
              <a:spcBef>
                <a:spcPct val="0"/>
              </a:spcBef>
              <a:spcAft>
                <a:spcPct val="0"/>
              </a:spcAft>
            </a:pPr>
            <a:r>
              <a:rPr lang="en-IN" sz="4000" b="1" dirty="0">
                <a:solidFill>
                  <a:srgbClr val="FF0000"/>
                </a:solidFill>
                <a:latin typeface="Times New Roman" panose="02020603050405020304" pitchFamily="18" charset="0"/>
                <a:cs typeface="Times New Roman" panose="02020603050405020304" pitchFamily="18" charset="0"/>
              </a:rPr>
              <a:t> Advantages of Proposed System</a:t>
            </a:r>
            <a:endParaRPr kumimoji="0" lang="en-US" altLang="en-US" sz="400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endParaRPr>
          </a:p>
          <a:p>
            <a:pPr marL="742950" lvl="1" indent="-285750" algn="just" eaLnBrk="0" fontAlgn="base" hangingPunct="0">
              <a:lnSpc>
                <a:spcPct val="150000"/>
              </a:lnSpc>
              <a:spcBef>
                <a:spcPct val="0"/>
              </a:spcBef>
              <a:spcAft>
                <a:spcPct val="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Provides a unified platform for interview simulation, ATS-based resume optimization and Resume builder.</a:t>
            </a:r>
          </a:p>
          <a:p>
            <a:pPr marL="742950" lvl="1" indent="-285750" algn="just" eaLnBrk="0" fontAlgn="base" hangingPunct="0">
              <a:lnSpc>
                <a:spcPct val="150000"/>
              </a:lnSpc>
              <a:spcBef>
                <a:spcPct val="0"/>
              </a:spcBef>
              <a:spcAft>
                <a:spcPct val="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Delivers personalized, adaptive, and real-time feedback instead of generic evaluations.</a:t>
            </a:r>
          </a:p>
          <a:p>
            <a:pPr marL="742950" lvl="1" indent="-285750" algn="just" eaLnBrk="0" fontAlgn="base" hangingPunct="0">
              <a:lnSpc>
                <a:spcPct val="150000"/>
              </a:lnSpc>
              <a:spcBef>
                <a:spcPct val="0"/>
              </a:spcBef>
              <a:spcAft>
                <a:spcPct val="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Achieves interview question generation latency below </a:t>
            </a:r>
            <a:r>
              <a:rPr lang="en-US" sz="2000" b="1" dirty="0">
                <a:latin typeface="Times New Roman" panose="02020603050405020304" pitchFamily="18" charset="0"/>
                <a:cs typeface="Times New Roman" panose="02020603050405020304" pitchFamily="18" charset="0"/>
              </a:rPr>
              <a:t>10 milliseconds</a:t>
            </a:r>
            <a:r>
              <a:rPr lang="en-US" sz="2000" dirty="0">
                <a:latin typeface="Times New Roman" panose="02020603050405020304" pitchFamily="18" charset="0"/>
                <a:cs typeface="Times New Roman" panose="02020603050405020304" pitchFamily="18" charset="0"/>
              </a:rPr>
              <a:t>, delivering nearly </a:t>
            </a:r>
            <a:r>
              <a:rPr lang="en-US" sz="2000" b="1" dirty="0">
                <a:latin typeface="Times New Roman" panose="02020603050405020304" pitchFamily="18" charset="0"/>
                <a:cs typeface="Times New Roman" panose="02020603050405020304" pitchFamily="18" charset="0"/>
              </a:rPr>
              <a:t>100× faster performance</a:t>
            </a:r>
            <a:r>
              <a:rPr lang="en-US" sz="2000" dirty="0">
                <a:latin typeface="Times New Roman" panose="02020603050405020304" pitchFamily="18" charset="0"/>
                <a:cs typeface="Times New Roman" panose="02020603050405020304" pitchFamily="18" charset="0"/>
              </a:rPr>
              <a:t> compared to cloud-based AI services.</a:t>
            </a:r>
          </a:p>
          <a:p>
            <a:pPr marL="742950" lvl="1" indent="-285750" algn="just" eaLnBrk="0" fontAlgn="base" hangingPunct="0">
              <a:lnSpc>
                <a:spcPct val="150000"/>
              </a:lnSpc>
              <a:spcBef>
                <a:spcPct val="0"/>
              </a:spcBef>
              <a:spcAft>
                <a:spcPct val="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Completes resume analysis within </a:t>
            </a:r>
            <a:r>
              <a:rPr lang="en-US" sz="2000" b="1" dirty="0">
                <a:latin typeface="Times New Roman" panose="02020603050405020304" pitchFamily="18" charset="0"/>
                <a:cs typeface="Times New Roman" panose="02020603050405020304" pitchFamily="18" charset="0"/>
              </a:rPr>
              <a:t>500 milliseconds</a:t>
            </a:r>
            <a:r>
              <a:rPr lang="en-US" sz="2000" dirty="0">
                <a:latin typeface="Times New Roman" panose="02020603050405020304" pitchFamily="18" charset="0"/>
                <a:cs typeface="Times New Roman" panose="02020603050405020304" pitchFamily="18" charset="0"/>
              </a:rPr>
              <a:t> and generates interview reports in under one second.</a:t>
            </a:r>
          </a:p>
          <a:p>
            <a:pPr marL="742950" lvl="1" indent="-285750" algn="just" eaLnBrk="0" fontAlgn="base" hangingPunct="0">
              <a:lnSpc>
                <a:spcPct val="150000"/>
              </a:lnSpc>
              <a:spcBef>
                <a:spcPct val="0"/>
              </a:spcBef>
              <a:spcAft>
                <a:spcPct val="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Operates without any external AI API dependency, ensuring offline capability and complete algorithmic control.</a:t>
            </a:r>
          </a:p>
          <a:p>
            <a:pPr marL="742950" lvl="1" indent="-285750" algn="just" eaLnBrk="0" fontAlgn="base" hangingPunct="0">
              <a:lnSpc>
                <a:spcPct val="150000"/>
              </a:lnSpc>
              <a:spcBef>
                <a:spcPct val="0"/>
              </a:spcBef>
              <a:spcAft>
                <a:spcPct val="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Generates over </a:t>
            </a:r>
            <a:r>
              <a:rPr lang="en-US" sz="2000" b="1" dirty="0">
                <a:latin typeface="Times New Roman" panose="02020603050405020304" pitchFamily="18" charset="0"/>
                <a:cs typeface="Times New Roman" panose="02020603050405020304" pitchFamily="18" charset="0"/>
              </a:rPr>
              <a:t>2.5 billion unique interview question combinations</a:t>
            </a:r>
            <a:r>
              <a:rPr lang="en-US" sz="2000" dirty="0">
                <a:latin typeface="Times New Roman" panose="02020603050405020304" pitchFamily="18" charset="0"/>
                <a:cs typeface="Times New Roman" panose="02020603050405020304" pitchFamily="18" charset="0"/>
              </a:rPr>
              <a:t>, eliminating repetition through parametric construction.</a:t>
            </a:r>
          </a:p>
          <a:p>
            <a:pPr marL="742950" lvl="1" indent="-285750" algn="just" eaLnBrk="0" fontAlgn="base" hangingPunct="0">
              <a:lnSpc>
                <a:spcPct val="150000"/>
              </a:lnSpc>
              <a:spcBef>
                <a:spcPct val="0"/>
              </a:spcBef>
              <a:spcAft>
                <a:spcPct val="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Dynamically adapts question difficulty and role specificity based on candidate performance using Q-Learning.</a:t>
            </a:r>
          </a:p>
          <a:p>
            <a:pPr marL="742950" lvl="1" indent="-285750" algn="just" eaLnBrk="0" fontAlgn="base" hangingPunct="0">
              <a:lnSpc>
                <a:spcPct val="150000"/>
              </a:lnSpc>
              <a:spcBef>
                <a:spcPct val="0"/>
              </a:spcBef>
              <a:spcAft>
                <a:spcPct val="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Increases the chances of resume shortlisting and successful interview performance.</a:t>
            </a:r>
          </a:p>
          <a:p>
            <a:pPr marL="742950" lvl="1" indent="-285750" algn="just" eaLnBrk="0" fontAlgn="base" hangingPunct="0">
              <a:lnSpc>
                <a:spcPct val="150000"/>
              </a:lnSpc>
              <a:spcBef>
                <a:spcPct val="0"/>
              </a:spcBef>
              <a:spcAft>
                <a:spcPct val="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Supports role-specific and job-oriented evaluation based on provided job descriptions.</a:t>
            </a:r>
          </a:p>
        </p:txBody>
      </p:sp>
    </p:spTree>
    <p:extLst>
      <p:ext uri="{BB962C8B-B14F-4D97-AF65-F5344CB8AC3E}">
        <p14:creationId xmlns:p14="http://schemas.microsoft.com/office/powerpoint/2010/main" val="3438932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A05D2DB-8530-FE72-AD17-27169A4DAADE}"/>
              </a:ext>
            </a:extLst>
          </p:cNvPr>
          <p:cNvSpPr>
            <a:spLocks noChangeArrowheads="1"/>
          </p:cNvSpPr>
          <p:nvPr/>
        </p:nvSpPr>
        <p:spPr bwMode="auto">
          <a:xfrm>
            <a:off x="1" y="-230832"/>
            <a:ext cx="12191999" cy="71928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r>
              <a:rPr lang="en-US" sz="4000" b="1" dirty="0">
                <a:solidFill>
                  <a:srgbClr val="FF0000"/>
                </a:solidFill>
                <a:latin typeface="Times New Roman"/>
                <a:ea typeface="Calibri"/>
                <a:cs typeface="Calibri"/>
              </a:rPr>
              <a:t> Software Requirements Specifications</a:t>
            </a:r>
            <a:endParaRPr lang="en-US" sz="4000" b="1" dirty="0">
              <a:solidFill>
                <a:srgbClr val="FF0000"/>
              </a:solidFill>
              <a:latin typeface="Times New Roman"/>
              <a:cs typeface="Times New Roman"/>
            </a:endParaRPr>
          </a:p>
          <a:p>
            <a:pPr lvl="1" eaLnBrk="0" fontAlgn="base" hangingPunct="0">
              <a:lnSpc>
                <a:spcPct val="150000"/>
              </a:lnSpc>
              <a:spcBef>
                <a:spcPct val="0"/>
              </a:spcBef>
              <a:spcAft>
                <a:spcPct val="0"/>
              </a:spcAft>
            </a:pPr>
            <a:r>
              <a:rPr lang="en-IN" sz="3000" b="1" dirty="0">
                <a:solidFill>
                  <a:srgbClr val="0070C0"/>
                </a:solidFill>
                <a:latin typeface="Times New Roman"/>
                <a:cs typeface="Times New Roman"/>
              </a:rPr>
              <a:t>Software Requirements </a:t>
            </a:r>
            <a:endParaRPr kumimoji="0" lang="en-US" altLang="en-US" sz="3000" b="1" i="0" u="none" strike="noStrike" cap="none" normalizeH="0" baseline="0" dirty="0">
              <a:ln>
                <a:noFill/>
              </a:ln>
              <a:solidFill>
                <a:srgbClr val="0070C0"/>
              </a:solidFill>
              <a:effectLst/>
              <a:latin typeface="Times New Roman" panose="02020603050405020304" pitchFamily="18" charset="0"/>
              <a:cs typeface="Times New Roman" panose="02020603050405020304" pitchFamily="18" charset="0"/>
            </a:endParaRPr>
          </a:p>
          <a:p>
            <a:pPr marL="1200150" lvl="2" indent="-285750" eaLnBrk="0" fontAlgn="base" hangingPunct="0">
              <a:lnSpc>
                <a:spcPct val="150000"/>
              </a:lnSpc>
              <a:spcBef>
                <a:spcPct val="0"/>
              </a:spcBef>
              <a:spcAft>
                <a:spcPct val="0"/>
              </a:spcAft>
              <a:buFont typeface="Wingdings" panose="05000000000000000000" pitchFamily="2" charset="2"/>
              <a:buChar char="Ø"/>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Programming Languages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1657350" lvl="3" indent="-285750" eaLnBrk="0" fontAlgn="base" hangingPunct="0">
              <a:lnSpc>
                <a:spcPct val="150000"/>
              </a:lnSpc>
              <a:spcBef>
                <a:spcPct val="0"/>
              </a:spcBef>
              <a:spcAft>
                <a:spcPct val="0"/>
              </a:spcAft>
              <a:buFont typeface="Arial" panose="020B0604020202020204" pitchFamily="34" charset="0"/>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Python (core development, AI/ML/NLP models)</a:t>
            </a:r>
          </a:p>
          <a:p>
            <a:pPr marL="1657350" lvl="3" indent="-285750" eaLnBrk="0" fontAlgn="base" hangingPunct="0">
              <a:lnSpc>
                <a:spcPct val="150000"/>
              </a:lnSpc>
              <a:spcBef>
                <a:spcPct val="0"/>
              </a:spcBef>
              <a:spcAft>
                <a:spcPct val="0"/>
              </a:spcAft>
              <a:buFont typeface="Arial" panose="020B0604020202020204" pitchFamily="34" charset="0"/>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JavaScript, </a:t>
            </a:r>
            <a:r>
              <a:rPr lang="en-US" altLang="en-US" sz="2000" dirty="0">
                <a:latin typeface="Times New Roman" panose="02020603050405020304" pitchFamily="18" charset="0"/>
                <a:cs typeface="Times New Roman" panose="02020603050405020304" pitchFamily="18" charset="0"/>
              </a:rPr>
              <a:t>React.js, TypeScript, Next.js, </a:t>
            </a:r>
            <a:r>
              <a:rPr lang="en-IN" sz="2000" dirty="0">
                <a:latin typeface="Times New Roman" panose="02020603050405020304" pitchFamily="18" charset="0"/>
                <a:cs typeface="Times New Roman" panose="02020603050405020304" pitchFamily="18" charset="0"/>
              </a:rPr>
              <a:t>CSS3</a:t>
            </a:r>
            <a:r>
              <a:rPr lang="en-US" altLang="en-US" sz="2000" dirty="0">
                <a:latin typeface="Times New Roman" panose="02020603050405020304" pitchFamily="18" charset="0"/>
                <a:cs typeface="Times New Roman" panose="02020603050405020304" pitchFamily="18" charset="0"/>
              </a:rPr>
              <a:t> (for responsive UI,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frontend development, API layer and backend services)</a:t>
            </a:r>
          </a:p>
          <a:p>
            <a:pPr marL="1200150" lvl="2" indent="-285750" eaLnBrk="0" fontAlgn="base" hangingPunct="0">
              <a:lnSpc>
                <a:spcPct val="150000"/>
              </a:lnSpc>
              <a:spcBef>
                <a:spcPct val="0"/>
              </a:spcBef>
              <a:spcAft>
                <a:spcPct val="0"/>
              </a:spcAft>
              <a:buFont typeface="Wingdings" panose="05000000000000000000" pitchFamily="2" charset="2"/>
              <a:buChar char="Ø"/>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Frameworks and Libraries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1657350" lvl="3" indent="-285750" eaLnBrk="0" fontAlgn="base" hangingPunct="0">
              <a:lnSpc>
                <a:spcPct val="150000"/>
              </a:lnSpc>
              <a:spcBef>
                <a:spcPct val="0"/>
              </a:spcBef>
              <a:spcAft>
                <a:spcPct val="0"/>
              </a:spcAft>
              <a:buFont typeface="Arial" panose="020B0604020202020204" pitchFamily="34" charset="0"/>
              <a:buChar char="•"/>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NLP</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BERT, SBERT, Transformers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HuggingFace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TF-IDF, BM25</a:t>
            </a:r>
          </a:p>
          <a:p>
            <a:pPr marL="1657350" lvl="3" indent="-285750" eaLnBrk="0" fontAlgn="base" hangingPunct="0">
              <a:lnSpc>
                <a:spcPct val="150000"/>
              </a:lnSpc>
              <a:spcBef>
                <a:spcPct val="0"/>
              </a:spcBef>
              <a:spcAft>
                <a:spcPct val="0"/>
              </a:spcAft>
              <a:buFont typeface="Arial" panose="020B0604020202020204" pitchFamily="34" charset="0"/>
              <a:buChar char="•"/>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Deep Learning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TensorFlow / PyTorch</a:t>
            </a:r>
          </a:p>
          <a:p>
            <a:pPr marL="1657350" lvl="3" indent="-285750" eaLnBrk="0" fontAlgn="base" hangingPunct="0">
              <a:lnSpc>
                <a:spcPct val="150000"/>
              </a:lnSpc>
              <a:spcBef>
                <a:spcPct val="0"/>
              </a:spcBef>
              <a:spcAft>
                <a:spcPct val="0"/>
              </a:spcAft>
              <a:buFont typeface="Arial" panose="020B0604020202020204" pitchFamily="34" charset="0"/>
              <a:buChar char="•"/>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Computer Vision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OpenCV, MediaPipe, CNN models</a:t>
            </a:r>
          </a:p>
          <a:p>
            <a:pPr marL="1657350" lvl="3" indent="-285750" eaLnBrk="0" fontAlgn="base" hangingPunct="0">
              <a:lnSpc>
                <a:spcPct val="150000"/>
              </a:lnSpc>
              <a:spcBef>
                <a:spcPct val="0"/>
              </a:spcBef>
              <a:spcAft>
                <a:spcPct val="0"/>
              </a:spcAft>
              <a:buFont typeface="Arial" panose="020B0604020202020204" pitchFamily="34" charset="0"/>
              <a:buChar char="•"/>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Machine Learning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Scikit-learn (Random Forest, Regression, Reinforcement Learning)</a:t>
            </a:r>
          </a:p>
          <a:p>
            <a:pPr marL="1657350" lvl="3" indent="-285750" eaLnBrk="0" fontAlgn="base" hangingPunct="0">
              <a:lnSpc>
                <a:spcPct val="150000"/>
              </a:lnSpc>
              <a:spcBef>
                <a:spcPct val="0"/>
              </a:spcBef>
              <a:spcAft>
                <a:spcPct val="0"/>
              </a:spcAft>
              <a:buFont typeface="Arial" panose="020B0604020202020204" pitchFamily="34" charset="0"/>
              <a:buChar char="•"/>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Speech Processing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SpeechRecognition, PyDub, Whisper</a:t>
            </a:r>
          </a:p>
          <a:p>
            <a:pPr marL="1200150" lvl="2" indent="-285750" eaLnBrk="0" fontAlgn="base" hangingPunct="0">
              <a:lnSpc>
                <a:spcPct val="150000"/>
              </a:lnSpc>
              <a:spcBef>
                <a:spcPct val="0"/>
              </a:spcBef>
              <a:spcAft>
                <a:spcPct val="0"/>
              </a:spcAft>
              <a:buFont typeface="Wingdings" panose="05000000000000000000" pitchFamily="2" charset="2"/>
              <a:buChar char="Ø"/>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APIs and Services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1657350" lvl="3" indent="-285750" eaLnBrk="0" fontAlgn="base" hangingPunct="0">
              <a:lnSpc>
                <a:spcPct val="150000"/>
              </a:lnSpc>
              <a:spcBef>
                <a:spcPct val="0"/>
              </a:spcBef>
              <a:spcAft>
                <a:spcPct val="0"/>
              </a:spcAft>
              <a:buFont typeface="Arial" panose="020B0604020202020204" pitchFamily="34" charset="0"/>
              <a:buChar char="•"/>
            </a:pPr>
            <a:r>
              <a:rPr lang="en-IN" sz="2000" dirty="0" err="1">
                <a:latin typeface="Times New Roman" panose="02020603050405020304" pitchFamily="18" charset="0"/>
                <a:cs typeface="Times New Roman" panose="02020603050405020304" pitchFamily="18" charset="0"/>
              </a:rPr>
              <a:t>HuggingFace</a:t>
            </a:r>
            <a:r>
              <a:rPr lang="en-IN" sz="2000" dirty="0">
                <a:latin typeface="Times New Roman" panose="02020603050405020304" pitchFamily="18" charset="0"/>
                <a:cs typeface="Times New Roman" panose="02020603050405020304" pitchFamily="18" charset="0"/>
              </a:rPr>
              <a:t> Inference Endpoints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705619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BCAE3BB-B033-E917-FCAE-8EBDCA416280}"/>
              </a:ext>
            </a:extLst>
          </p:cNvPr>
          <p:cNvSpPr txBox="1"/>
          <p:nvPr/>
        </p:nvSpPr>
        <p:spPr>
          <a:xfrm>
            <a:off x="1" y="155023"/>
            <a:ext cx="12191999" cy="5576976"/>
          </a:xfrm>
          <a:prstGeom prst="rect">
            <a:avLst/>
          </a:prstGeom>
          <a:noFill/>
        </p:spPr>
        <p:txBody>
          <a:bodyPr wrap="square">
            <a:spAutoFit/>
          </a:bodyPr>
          <a:lstStyle/>
          <a:p>
            <a:pPr marL="1714500" lvl="3" indent="-342900" eaLnBrk="0" fontAlgn="base" hangingPunct="0">
              <a:lnSpc>
                <a:spcPct val="150000"/>
              </a:lnSpc>
              <a:spcBef>
                <a:spcPct val="0"/>
              </a:spcBef>
              <a:spcAft>
                <a:spcPct val="0"/>
              </a:spcAf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JWT-based authentication services</a:t>
            </a:r>
          </a:p>
          <a:p>
            <a:pPr marL="1714500" lvl="3" indent="-342900" eaLnBrk="0" fontAlgn="base" hangingPunct="0">
              <a:lnSpc>
                <a:spcPct val="150000"/>
              </a:lnSpc>
              <a:spcBef>
                <a:spcPct val="0"/>
              </a:spcBef>
              <a:spcAft>
                <a:spcPct val="0"/>
              </a:spcAf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AWS S3 cloud storage</a:t>
            </a: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1200150" lvl="2" indent="-285750" eaLnBrk="0" fontAlgn="base" hangingPunct="0">
              <a:lnSpc>
                <a:spcPct val="150000"/>
              </a:lnSpc>
              <a:spcBef>
                <a:spcPct val="0"/>
              </a:spcBef>
              <a:spcAft>
                <a:spcPct val="0"/>
              </a:spcAft>
              <a:buFont typeface="Wingdings" panose="05000000000000000000" pitchFamily="2" charset="2"/>
              <a:buChar char="Ø"/>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Database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1657350" lvl="3" indent="-285750" eaLnBrk="0" fontAlgn="base" hangingPunct="0">
              <a:lnSpc>
                <a:spcPct val="150000"/>
              </a:lnSpc>
              <a:spcBef>
                <a:spcPct val="0"/>
              </a:spcBef>
              <a:spcAft>
                <a:spcPct val="0"/>
              </a:spcAf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SQLite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PostgreSQL (for storing resumes, interview results, reports, and user data)</a:t>
            </a:r>
          </a:p>
          <a:p>
            <a:pPr marL="1200150" lvl="2" indent="-285750" eaLnBrk="0" fontAlgn="base" hangingPunct="0">
              <a:lnSpc>
                <a:spcPct val="150000"/>
              </a:lnSpc>
              <a:spcBef>
                <a:spcPct val="0"/>
              </a:spcBef>
              <a:spcAft>
                <a:spcPct val="0"/>
              </a:spcAft>
              <a:buFont typeface="Wingdings" panose="05000000000000000000" pitchFamily="2" charset="2"/>
              <a:buChar char="Ø"/>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Datasets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1657350" lvl="3" indent="-285750" eaLnBrk="0" fontAlgn="base" hangingPunct="0">
              <a:lnSpc>
                <a:spcPct val="150000"/>
              </a:lnSpc>
              <a:spcBef>
                <a:spcPct val="0"/>
              </a:spcBef>
              <a:spcAft>
                <a:spcPct val="0"/>
              </a:spcAft>
              <a:buFont typeface="Arial" panose="020B0604020202020204" pitchFamily="34" charset="0"/>
              <a:buChar char="•"/>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Resume Dataset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Kaggle Resume Dataset (resume parsing &amp; ATS evaluation).</a:t>
            </a:r>
          </a:p>
          <a:p>
            <a:pPr marL="1657350" lvl="3" indent="-285750" eaLnBrk="0" fontAlgn="base" hangingPunct="0">
              <a:lnSpc>
                <a:spcPct val="150000"/>
              </a:lnSpc>
              <a:spcBef>
                <a:spcPct val="0"/>
              </a:spcBef>
              <a:spcAft>
                <a:spcPct val="0"/>
              </a:spcAft>
              <a:buFont typeface="Arial" panose="020B0604020202020204" pitchFamily="34" charset="0"/>
              <a:buChar char="•"/>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Job Description Dataset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Job postings dataset (LinkedIn/Indeed crawled data).</a:t>
            </a:r>
          </a:p>
          <a:p>
            <a:pPr marL="1657350" lvl="3" indent="-285750" eaLnBrk="0" fontAlgn="base" hangingPunct="0">
              <a:lnSpc>
                <a:spcPct val="150000"/>
              </a:lnSpc>
              <a:spcBef>
                <a:spcPct val="0"/>
              </a:spcBef>
              <a:spcAft>
                <a:spcPct val="0"/>
              </a:spcAft>
              <a:buFont typeface="Arial" panose="020B0604020202020204" pitchFamily="34" charset="0"/>
              <a:buChar char="•"/>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Interview QA Dataset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Public technical &amp; HR interview question-answer datasets.</a:t>
            </a:r>
          </a:p>
          <a:p>
            <a:pPr marL="1657350" lvl="3" indent="-285750" eaLnBrk="0" fontAlgn="base" hangingPunct="0">
              <a:lnSpc>
                <a:spcPct val="150000"/>
              </a:lnSpc>
              <a:spcBef>
                <a:spcPct val="0"/>
              </a:spcBef>
              <a:spcAft>
                <a:spcPct val="0"/>
              </a:spcAft>
              <a:buFont typeface="Arial" panose="020B0604020202020204" pitchFamily="34" charset="0"/>
              <a:buChar char="•"/>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Speech Dataset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LibriSpeech, Mozilla Common Voice (for ASR training/testing).</a:t>
            </a:r>
          </a:p>
          <a:p>
            <a:pPr marL="1657350" lvl="3" indent="-285750" eaLnBrk="0" fontAlgn="base" hangingPunct="0">
              <a:lnSpc>
                <a:spcPct val="150000"/>
              </a:lnSpc>
              <a:spcBef>
                <a:spcPct val="0"/>
              </a:spcBef>
              <a:spcAft>
                <a:spcPct val="0"/>
              </a:spcAft>
              <a:buFont typeface="Arial" panose="020B0604020202020204" pitchFamily="34" charset="0"/>
              <a:buChar char="•"/>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Facial Expression Dataset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FER2013, AffectNet, MediaPipe landmark data (for non-verbal cue analysis).</a:t>
            </a:r>
            <a:endParaRPr lang="en-US" altLang="en-US" sz="2000" dirty="0">
              <a:latin typeface="Times New Roman" panose="02020603050405020304" pitchFamily="18" charset="0"/>
              <a:cs typeface="Times New Roman" panose="02020603050405020304" pitchFamily="18" charset="0"/>
            </a:endParaRPr>
          </a:p>
          <a:p>
            <a:pPr marL="1200150" lvl="2" indent="-285750" eaLnBrk="0" fontAlgn="base" hangingPunct="0">
              <a:lnSpc>
                <a:spcPct val="150000"/>
              </a:lnSpc>
              <a:spcBef>
                <a:spcPct val="0"/>
              </a:spcBef>
              <a:spcAft>
                <a:spcPct val="0"/>
              </a:spcAft>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Windows 10 / 11 (64-bit)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035056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Freeform: Shape 4">
            <a:extLst>
              <a:ext uri="{FF2B5EF4-FFF2-40B4-BE49-F238E27FC236}">
                <a16:creationId xmlns:a16="http://schemas.microsoft.com/office/drawing/2014/main" id="{2A5BB16A-43E8-3A3A-89C6-65C21BEE1905}"/>
              </a:ext>
            </a:extLst>
          </p:cNvPr>
          <p:cNvSpPr/>
          <p:nvPr/>
        </p:nvSpPr>
        <p:spPr>
          <a:xfrm>
            <a:off x="8795480" y="4923067"/>
            <a:ext cx="3396519" cy="1934932"/>
          </a:xfrm>
          <a:custGeom>
            <a:avLst/>
            <a:gdLst>
              <a:gd name="connsiteX0" fmla="*/ 3291164 w 3291416"/>
              <a:gd name="connsiteY0" fmla="*/ -414 h 1094105"/>
              <a:gd name="connsiteX1" fmla="*/ 3291164 w 3291416"/>
              <a:gd name="connsiteY1" fmla="*/ 1093691 h 1094105"/>
              <a:gd name="connsiteX2" fmla="*/ -253 w 3291416"/>
              <a:gd name="connsiteY2" fmla="*/ 1093691 h 1094105"/>
              <a:gd name="connsiteX3" fmla="*/ 398422 w 3291416"/>
              <a:gd name="connsiteY3" fmla="*/ 871441 h 1094105"/>
            </a:gdLst>
            <a:ahLst/>
            <a:cxnLst>
              <a:cxn ang="0">
                <a:pos x="connsiteX0" y="connsiteY0"/>
              </a:cxn>
              <a:cxn ang="0">
                <a:pos x="connsiteX1" y="connsiteY1"/>
              </a:cxn>
              <a:cxn ang="0">
                <a:pos x="connsiteX2" y="connsiteY2"/>
              </a:cxn>
              <a:cxn ang="0">
                <a:pos x="connsiteX3" y="connsiteY3"/>
              </a:cxn>
            </a:cxnLst>
            <a:rect l="l" t="t" r="r" b="b"/>
            <a:pathLst>
              <a:path w="3291416" h="1094105">
                <a:moveTo>
                  <a:pt x="3291164" y="-414"/>
                </a:moveTo>
                <a:lnTo>
                  <a:pt x="3291164" y="1093691"/>
                </a:lnTo>
                <a:lnTo>
                  <a:pt x="-253" y="1093691"/>
                </a:lnTo>
                <a:cubicBezTo>
                  <a:pt x="114894" y="991424"/>
                  <a:pt x="250889" y="915573"/>
                  <a:pt x="398422" y="871441"/>
                </a:cubicBezTo>
                <a:close/>
              </a:path>
            </a:pathLst>
          </a:custGeom>
          <a:solidFill>
            <a:schemeClr val="bg1">
              <a:alpha val="5000"/>
            </a:schemeClr>
          </a:solidFill>
          <a:ln w="10583" cap="flat">
            <a:noFill/>
            <a:prstDash val="solid"/>
            <a:miter/>
          </a:ln>
        </p:spPr>
        <p:txBody>
          <a:bodyPr lIns="91440" tIns="45720" rIns="91440" bIns="45720" rtlCol="0" anchor="ctr"/>
          <a:lstStyle/>
          <a:p>
            <a:pPr marL="285750" indent="-285750">
              <a:lnSpc>
                <a:spcPct val="150000"/>
              </a:lnSpc>
              <a:buFont typeface="Wingdings"/>
              <a:buChar char="Ø"/>
            </a:pPr>
            <a:endParaRPr lang="en-IN">
              <a:solidFill>
                <a:srgbClr val="000000"/>
              </a:solidFill>
            </a:endParaRPr>
          </a:p>
        </p:txBody>
      </p:sp>
      <p:sp>
        <p:nvSpPr>
          <p:cNvPr id="2" name="TextBox 1">
            <a:extLst>
              <a:ext uri="{FF2B5EF4-FFF2-40B4-BE49-F238E27FC236}">
                <a16:creationId xmlns:a16="http://schemas.microsoft.com/office/drawing/2014/main" id="{CEBAF3FE-9A73-D2ED-522D-161548E9BCC7}"/>
              </a:ext>
            </a:extLst>
          </p:cNvPr>
          <p:cNvSpPr txBox="1"/>
          <p:nvPr/>
        </p:nvSpPr>
        <p:spPr>
          <a:xfrm>
            <a:off x="78658" y="185191"/>
            <a:ext cx="12192000" cy="3499484"/>
          </a:xfrm>
          <a:prstGeom prst="rect">
            <a:avLst/>
          </a:prstGeom>
          <a:noFill/>
        </p:spPr>
        <p:txBody>
          <a:bodyPr wrap="square" lIns="91440" tIns="45720" rIns="91440" bIns="45720" rtlCol="0" anchor="t">
            <a:spAutoFit/>
          </a:bodyPr>
          <a:lstStyle/>
          <a:p>
            <a:pPr lvl="1">
              <a:lnSpc>
                <a:spcPct val="150000"/>
              </a:lnSpc>
            </a:pPr>
            <a:r>
              <a:rPr lang="en-IN" sz="3000" b="1" dirty="0">
                <a:solidFill>
                  <a:srgbClr val="0070C0"/>
                </a:solidFill>
                <a:latin typeface="Times New Roman"/>
                <a:cs typeface="Times New Roman"/>
              </a:rPr>
              <a:t>Hardware Requirements</a:t>
            </a:r>
            <a:endParaRPr lang="en-IN" sz="3000" dirty="0">
              <a:solidFill>
                <a:srgbClr val="0070C0"/>
              </a:solidFill>
              <a:latin typeface="Times New Roman" panose="02020603050405020304" pitchFamily="18" charset="0"/>
              <a:cs typeface="Times New Roman" panose="02020603050405020304" pitchFamily="18" charset="0"/>
            </a:endParaRPr>
          </a:p>
          <a:p>
            <a:pPr marL="1257300" lvl="2" indent="-342900">
              <a:lnSpc>
                <a:spcPct val="150000"/>
              </a:lnSpc>
              <a:buFont typeface="Wingdings"/>
              <a:buChar char="Ø"/>
            </a:pPr>
            <a:r>
              <a:rPr lang="en-IN" sz="2000" dirty="0">
                <a:solidFill>
                  <a:srgbClr val="000000"/>
                </a:solidFill>
                <a:latin typeface="Times New Roman" panose="02020603050405020304" pitchFamily="18" charset="0"/>
                <a:cs typeface="Times New Roman" panose="02020603050405020304" pitchFamily="18" charset="0"/>
              </a:rPr>
              <a:t>Processor – </a:t>
            </a:r>
            <a:r>
              <a:rPr lang="en-US" sz="2000" dirty="0">
                <a:latin typeface="Times New Roman" panose="02020603050405020304" pitchFamily="18" charset="0"/>
                <a:cs typeface="Times New Roman" panose="02020603050405020304" pitchFamily="18" charset="0"/>
              </a:rPr>
              <a:t>Intel Core i5 (8th Gen) / AMD Ryzen 5.</a:t>
            </a:r>
          </a:p>
          <a:p>
            <a:pPr marL="1257300" lvl="2" indent="-342900">
              <a:lnSpc>
                <a:spcPct val="150000"/>
              </a:lnSpc>
              <a:buFont typeface="Wingdings"/>
              <a:buChar char="Ø"/>
            </a:pPr>
            <a:r>
              <a:rPr lang="en-US" sz="2000" dirty="0">
                <a:solidFill>
                  <a:srgbClr val="000000"/>
                </a:solidFill>
                <a:latin typeface="Times New Roman" panose="02020603050405020304" pitchFamily="18" charset="0"/>
                <a:cs typeface="Times New Roman" panose="02020603050405020304" pitchFamily="18" charset="0"/>
              </a:rPr>
              <a:t>Graphical Processing Unit (GPU) </a:t>
            </a:r>
            <a:r>
              <a:rPr lang="en-IN" sz="2000" dirty="0">
                <a:solidFill>
                  <a:srgbClr val="000000"/>
                </a:solidFill>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NVIDIA RTX 3060 / 3080 (for deep learning, CNN, MediaPipe models).</a:t>
            </a:r>
          </a:p>
          <a:p>
            <a:pPr marL="1257300" lvl="2" indent="-342900">
              <a:lnSpc>
                <a:spcPct val="150000"/>
              </a:lnSpc>
              <a:buFont typeface="Wingdings"/>
              <a:buChar char="Ø"/>
            </a:pPr>
            <a:r>
              <a:rPr lang="en-IN" sz="2000" dirty="0">
                <a:solidFill>
                  <a:srgbClr val="000000"/>
                </a:solidFill>
                <a:latin typeface="Times New Roman" panose="02020603050405020304" pitchFamily="18" charset="0"/>
                <a:cs typeface="Times New Roman" panose="02020603050405020304" pitchFamily="18" charset="0"/>
              </a:rPr>
              <a:t>RAM – 8GB or above.</a:t>
            </a:r>
          </a:p>
          <a:p>
            <a:pPr marL="1257300" lvl="2" indent="-342900">
              <a:lnSpc>
                <a:spcPct val="150000"/>
              </a:lnSpc>
              <a:buFont typeface="Wingdings"/>
              <a:buChar char="Ø"/>
            </a:pPr>
            <a:r>
              <a:rPr lang="en-IN" sz="2000" dirty="0">
                <a:solidFill>
                  <a:srgbClr val="000000"/>
                </a:solidFill>
                <a:latin typeface="Times New Roman" panose="02020603050405020304" pitchFamily="18" charset="0"/>
                <a:cs typeface="Times New Roman" panose="02020603050405020304" pitchFamily="18" charset="0"/>
              </a:rPr>
              <a:t>Storage / ROM – 512GB SSD or above.</a:t>
            </a:r>
          </a:p>
          <a:p>
            <a:pPr marL="1257300" lvl="2" indent="-342900">
              <a:lnSpc>
                <a:spcPct val="150000"/>
              </a:lnSpc>
              <a:buFont typeface="Wingdings"/>
              <a:buChar char="Ø"/>
            </a:pPr>
            <a:r>
              <a:rPr lang="en-US" sz="2000" dirty="0">
                <a:solidFill>
                  <a:srgbClr val="000000"/>
                </a:solidFill>
                <a:latin typeface="Times New Roman" panose="02020603050405020304" pitchFamily="18" charset="0"/>
                <a:cs typeface="Times New Roman" panose="02020603050405020304" pitchFamily="18" charset="0"/>
              </a:rPr>
              <a:t>Peripherals </a:t>
            </a:r>
            <a:r>
              <a:rPr lang="en-IN" sz="2000" dirty="0">
                <a:solidFill>
                  <a:srgbClr val="000000"/>
                </a:solidFill>
                <a:latin typeface="Times New Roman" panose="02020603050405020304" pitchFamily="18" charset="0"/>
                <a:cs typeface="Times New Roman" panose="02020603050405020304" pitchFamily="18" charset="0"/>
              </a:rPr>
              <a:t>– HD Camera, Microphone.</a:t>
            </a:r>
          </a:p>
        </p:txBody>
      </p:sp>
    </p:spTree>
    <p:extLst>
      <p:ext uri="{BB962C8B-B14F-4D97-AF65-F5344CB8AC3E}">
        <p14:creationId xmlns:p14="http://schemas.microsoft.com/office/powerpoint/2010/main" val="11516254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85D0F54-6C0D-A823-C022-DE7ACB96ACBC}"/>
              </a:ext>
            </a:extLst>
          </p:cNvPr>
          <p:cNvSpPr>
            <a:spLocks noChangeArrowheads="1"/>
          </p:cNvSpPr>
          <p:nvPr/>
        </p:nvSpPr>
        <p:spPr bwMode="auto">
          <a:xfrm>
            <a:off x="68827" y="-179701"/>
            <a:ext cx="12192000" cy="25208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r>
              <a:rPr lang="en-US" sz="4000" b="1" dirty="0">
                <a:solidFill>
                  <a:srgbClr val="FF0000"/>
                </a:solidFill>
                <a:latin typeface="Times New Roman"/>
                <a:ea typeface="Calibri"/>
                <a:cs typeface="Calibri"/>
              </a:rPr>
              <a:t> System Design</a:t>
            </a:r>
          </a:p>
          <a:p>
            <a:pPr lvl="1" eaLnBrk="0" fontAlgn="base" hangingPunct="0">
              <a:lnSpc>
                <a:spcPct val="150000"/>
              </a:lnSpc>
              <a:spcBef>
                <a:spcPct val="0"/>
              </a:spcBef>
              <a:spcAft>
                <a:spcPct val="0"/>
              </a:spcAft>
            </a:pPr>
            <a:r>
              <a:rPr lang="en-US" sz="3000" b="1" dirty="0">
                <a:solidFill>
                  <a:srgbClr val="0070C0"/>
                </a:solidFill>
                <a:latin typeface="Times New Roman"/>
                <a:cs typeface="Times New Roman"/>
              </a:rPr>
              <a:t>Class Diagram:</a:t>
            </a:r>
          </a:p>
          <a:p>
            <a:pPr eaLnBrk="0" fontAlgn="base" hangingPunct="0">
              <a:lnSpc>
                <a:spcPct val="150000"/>
              </a:lnSpc>
              <a:spcBef>
                <a:spcPct val="0"/>
              </a:spcBef>
              <a:spcAft>
                <a:spcPct val="0"/>
              </a:spcAft>
            </a:pPr>
            <a:endParaRPr lang="en-US" sz="4000" b="1" dirty="0">
              <a:solidFill>
                <a:srgbClr val="FF0000"/>
              </a:solidFill>
              <a:latin typeface="Times New Roman"/>
              <a:cs typeface="Times New Roman"/>
            </a:endParaRPr>
          </a:p>
        </p:txBody>
      </p:sp>
      <p:pic>
        <p:nvPicPr>
          <p:cNvPr id="5" name="Picture 4">
            <a:extLst>
              <a:ext uri="{FF2B5EF4-FFF2-40B4-BE49-F238E27FC236}">
                <a16:creationId xmlns:a16="http://schemas.microsoft.com/office/drawing/2014/main" id="{91FC4F09-0EF8-7196-4D9A-C05E3674D5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35278" y="1527316"/>
            <a:ext cx="8614040" cy="5162402"/>
          </a:xfrm>
          <a:prstGeom prst="rect">
            <a:avLst/>
          </a:prstGeom>
        </p:spPr>
      </p:pic>
    </p:spTree>
    <p:extLst>
      <p:ext uri="{BB962C8B-B14F-4D97-AF65-F5344CB8AC3E}">
        <p14:creationId xmlns:p14="http://schemas.microsoft.com/office/powerpoint/2010/main" val="37090578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29F07D2-2850-B25E-2065-C86C756D1A7D}"/>
              </a:ext>
            </a:extLst>
          </p:cNvPr>
          <p:cNvSpPr txBox="1"/>
          <p:nvPr/>
        </p:nvSpPr>
        <p:spPr>
          <a:xfrm>
            <a:off x="-255638" y="-19665"/>
            <a:ext cx="6096000" cy="701859"/>
          </a:xfrm>
          <a:prstGeom prst="rect">
            <a:avLst/>
          </a:prstGeom>
          <a:noFill/>
        </p:spPr>
        <p:txBody>
          <a:bodyPr wrap="square">
            <a:spAutoFit/>
          </a:bodyPr>
          <a:lstStyle/>
          <a:p>
            <a:pPr lvl="1" eaLnBrk="0" fontAlgn="base" hangingPunct="0">
              <a:lnSpc>
                <a:spcPct val="150000"/>
              </a:lnSpc>
              <a:spcBef>
                <a:spcPct val="0"/>
              </a:spcBef>
              <a:spcAft>
                <a:spcPct val="0"/>
              </a:spcAft>
            </a:pPr>
            <a:r>
              <a:rPr lang="en-US" sz="3000" b="1" dirty="0">
                <a:solidFill>
                  <a:srgbClr val="0070C0"/>
                </a:solidFill>
                <a:latin typeface="Times New Roman"/>
                <a:cs typeface="Times New Roman"/>
              </a:rPr>
              <a:t>Use Case Diagram:</a:t>
            </a:r>
          </a:p>
        </p:txBody>
      </p:sp>
      <p:sp>
        <p:nvSpPr>
          <p:cNvPr id="6" name="TextBox 5">
            <a:extLst>
              <a:ext uri="{FF2B5EF4-FFF2-40B4-BE49-F238E27FC236}">
                <a16:creationId xmlns:a16="http://schemas.microsoft.com/office/drawing/2014/main" id="{933B2940-0D6E-E011-0104-9368D63DCA1F}"/>
              </a:ext>
            </a:extLst>
          </p:cNvPr>
          <p:cNvSpPr txBox="1"/>
          <p:nvPr/>
        </p:nvSpPr>
        <p:spPr>
          <a:xfrm>
            <a:off x="221226" y="682194"/>
            <a:ext cx="6223818" cy="498663"/>
          </a:xfrm>
          <a:prstGeom prst="rect">
            <a:avLst/>
          </a:prstGeom>
          <a:noFill/>
        </p:spPr>
        <p:txBody>
          <a:bodyPr wrap="square">
            <a:spAutoFit/>
          </a:bodyPr>
          <a:lstStyle/>
          <a:p>
            <a:pPr lvl="1" eaLnBrk="0" fontAlgn="base" hangingPunct="0">
              <a:lnSpc>
                <a:spcPct val="150000"/>
              </a:lnSpc>
              <a:spcBef>
                <a:spcPct val="0"/>
              </a:spcBef>
              <a:spcAft>
                <a:spcPct val="0"/>
              </a:spcAft>
            </a:pPr>
            <a:r>
              <a:rPr lang="en-US" sz="2000" b="1" dirty="0">
                <a:latin typeface="Times New Roman"/>
                <a:cs typeface="Times New Roman"/>
              </a:rPr>
              <a:t>User Use Case Diagram:</a:t>
            </a:r>
          </a:p>
        </p:txBody>
      </p:sp>
      <p:pic>
        <p:nvPicPr>
          <p:cNvPr id="1026" name="Picture 2">
            <a:extLst>
              <a:ext uri="{FF2B5EF4-FFF2-40B4-BE49-F238E27FC236}">
                <a16:creationId xmlns:a16="http://schemas.microsoft.com/office/drawing/2014/main" id="{6730AFEB-DC65-5340-7FD5-D8DC5C7564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18334" y="1081464"/>
            <a:ext cx="5155331" cy="58664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68358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2E33FFC-888C-2D35-CCB9-7EB5C9CDD142}"/>
              </a:ext>
            </a:extLst>
          </p:cNvPr>
          <p:cNvSpPr txBox="1"/>
          <p:nvPr/>
        </p:nvSpPr>
        <p:spPr>
          <a:xfrm>
            <a:off x="172720" y="132080"/>
            <a:ext cx="6096000" cy="498663"/>
          </a:xfrm>
          <a:prstGeom prst="rect">
            <a:avLst/>
          </a:prstGeom>
          <a:noFill/>
        </p:spPr>
        <p:txBody>
          <a:bodyPr wrap="square">
            <a:spAutoFit/>
          </a:bodyPr>
          <a:lstStyle/>
          <a:p>
            <a:pPr lvl="1" eaLnBrk="0" fontAlgn="base" hangingPunct="0">
              <a:lnSpc>
                <a:spcPct val="150000"/>
              </a:lnSpc>
              <a:spcBef>
                <a:spcPct val="0"/>
              </a:spcBef>
              <a:spcAft>
                <a:spcPct val="0"/>
              </a:spcAft>
            </a:pPr>
            <a:r>
              <a:rPr lang="en-US" sz="2000" b="1" dirty="0">
                <a:latin typeface="Times New Roman"/>
                <a:cs typeface="Times New Roman"/>
              </a:rPr>
              <a:t>Admin Use Case Diagram:</a:t>
            </a:r>
          </a:p>
        </p:txBody>
      </p:sp>
      <p:pic>
        <p:nvPicPr>
          <p:cNvPr id="2052" name="Picture 4">
            <a:extLst>
              <a:ext uri="{FF2B5EF4-FFF2-40B4-BE49-F238E27FC236}">
                <a16:creationId xmlns:a16="http://schemas.microsoft.com/office/drawing/2014/main" id="{71ED9642-8279-9B94-F51B-97645524B2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00955" y="630743"/>
            <a:ext cx="5590090" cy="64565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48888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7895E63-EE16-0DE8-964C-46A1C0C93AEE}"/>
              </a:ext>
            </a:extLst>
          </p:cNvPr>
          <p:cNvSpPr txBox="1"/>
          <p:nvPr/>
        </p:nvSpPr>
        <p:spPr>
          <a:xfrm>
            <a:off x="0" y="0"/>
            <a:ext cx="6096000" cy="701859"/>
          </a:xfrm>
          <a:prstGeom prst="rect">
            <a:avLst/>
          </a:prstGeom>
          <a:noFill/>
        </p:spPr>
        <p:txBody>
          <a:bodyPr wrap="square">
            <a:spAutoFit/>
          </a:bodyPr>
          <a:lstStyle/>
          <a:p>
            <a:pPr lvl="1" eaLnBrk="0" fontAlgn="base" hangingPunct="0">
              <a:lnSpc>
                <a:spcPct val="150000"/>
              </a:lnSpc>
              <a:spcBef>
                <a:spcPct val="0"/>
              </a:spcBef>
              <a:spcAft>
                <a:spcPct val="0"/>
              </a:spcAft>
            </a:pPr>
            <a:r>
              <a:rPr lang="en-US" sz="3000" b="1" dirty="0">
                <a:solidFill>
                  <a:srgbClr val="0070C0"/>
                </a:solidFill>
                <a:latin typeface="Times New Roman"/>
                <a:cs typeface="Times New Roman"/>
              </a:rPr>
              <a:t>Sequence Diagram:</a:t>
            </a:r>
          </a:p>
        </p:txBody>
      </p:sp>
      <p:sp>
        <p:nvSpPr>
          <p:cNvPr id="4" name="TextBox 3">
            <a:extLst>
              <a:ext uri="{FF2B5EF4-FFF2-40B4-BE49-F238E27FC236}">
                <a16:creationId xmlns:a16="http://schemas.microsoft.com/office/drawing/2014/main" id="{8E7869C0-2FC6-4992-691E-7E2E8F115A3D}"/>
              </a:ext>
            </a:extLst>
          </p:cNvPr>
          <p:cNvSpPr txBox="1"/>
          <p:nvPr/>
        </p:nvSpPr>
        <p:spPr>
          <a:xfrm>
            <a:off x="477520" y="701859"/>
            <a:ext cx="6096000" cy="498663"/>
          </a:xfrm>
          <a:prstGeom prst="rect">
            <a:avLst/>
          </a:prstGeom>
          <a:noFill/>
        </p:spPr>
        <p:txBody>
          <a:bodyPr wrap="square">
            <a:spAutoFit/>
          </a:bodyPr>
          <a:lstStyle/>
          <a:p>
            <a:pPr lvl="1" eaLnBrk="0" fontAlgn="base" hangingPunct="0">
              <a:lnSpc>
                <a:spcPct val="150000"/>
              </a:lnSpc>
              <a:spcBef>
                <a:spcPct val="0"/>
              </a:spcBef>
              <a:spcAft>
                <a:spcPct val="0"/>
              </a:spcAft>
            </a:pPr>
            <a:r>
              <a:rPr lang="en-US" sz="2000" b="1" dirty="0">
                <a:latin typeface="Times New Roman"/>
                <a:cs typeface="Times New Roman"/>
              </a:rPr>
              <a:t>User Sequence Diagram:</a:t>
            </a:r>
          </a:p>
        </p:txBody>
      </p:sp>
      <p:pic>
        <p:nvPicPr>
          <p:cNvPr id="7" name="Picture 6">
            <a:extLst>
              <a:ext uri="{FF2B5EF4-FFF2-40B4-BE49-F238E27FC236}">
                <a16:creationId xmlns:a16="http://schemas.microsoft.com/office/drawing/2014/main" id="{D01FCBB8-CE21-3769-D25E-93BF5E0AF094}"/>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666240" y="1159933"/>
            <a:ext cx="8595359" cy="5330719"/>
          </a:xfrm>
          <a:prstGeom prst="rect">
            <a:avLst/>
          </a:prstGeom>
        </p:spPr>
      </p:pic>
    </p:spTree>
    <p:extLst>
      <p:ext uri="{BB962C8B-B14F-4D97-AF65-F5344CB8AC3E}">
        <p14:creationId xmlns:p14="http://schemas.microsoft.com/office/powerpoint/2010/main" val="6375639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9EFBC5F-8F5B-5856-8285-6FFA40608ABD}"/>
              </a:ext>
            </a:extLst>
          </p:cNvPr>
          <p:cNvSpPr txBox="1"/>
          <p:nvPr/>
        </p:nvSpPr>
        <p:spPr>
          <a:xfrm>
            <a:off x="243840" y="223083"/>
            <a:ext cx="6096000" cy="498663"/>
          </a:xfrm>
          <a:prstGeom prst="rect">
            <a:avLst/>
          </a:prstGeom>
          <a:noFill/>
        </p:spPr>
        <p:txBody>
          <a:bodyPr wrap="square">
            <a:spAutoFit/>
          </a:bodyPr>
          <a:lstStyle/>
          <a:p>
            <a:pPr lvl="1" eaLnBrk="0" fontAlgn="base" hangingPunct="0">
              <a:lnSpc>
                <a:spcPct val="150000"/>
              </a:lnSpc>
              <a:spcBef>
                <a:spcPct val="0"/>
              </a:spcBef>
              <a:spcAft>
                <a:spcPct val="0"/>
              </a:spcAft>
            </a:pPr>
            <a:r>
              <a:rPr lang="en-US" sz="2000" b="1" dirty="0">
                <a:latin typeface="Times New Roman"/>
                <a:cs typeface="Times New Roman"/>
              </a:rPr>
              <a:t>Admin Sequence Diagram:</a:t>
            </a:r>
          </a:p>
        </p:txBody>
      </p:sp>
      <p:pic>
        <p:nvPicPr>
          <p:cNvPr id="5" name="Picture 4">
            <a:extLst>
              <a:ext uri="{FF2B5EF4-FFF2-40B4-BE49-F238E27FC236}">
                <a16:creationId xmlns:a16="http://schemas.microsoft.com/office/drawing/2014/main" id="{2ED5EDB3-A581-7619-540F-65737BFE33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5200" y="681156"/>
            <a:ext cx="10261600" cy="6176843"/>
          </a:xfrm>
          <a:prstGeom prst="rect">
            <a:avLst/>
          </a:prstGeom>
        </p:spPr>
      </p:pic>
    </p:spTree>
    <p:extLst>
      <p:ext uri="{BB962C8B-B14F-4D97-AF65-F5344CB8AC3E}">
        <p14:creationId xmlns:p14="http://schemas.microsoft.com/office/powerpoint/2010/main" val="42933317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89F156D-2BF8-53A3-5D7D-64EF253C4124}"/>
              </a:ext>
            </a:extLst>
          </p:cNvPr>
          <p:cNvSpPr txBox="1"/>
          <p:nvPr/>
        </p:nvSpPr>
        <p:spPr>
          <a:xfrm>
            <a:off x="0" y="0"/>
            <a:ext cx="6096000" cy="701859"/>
          </a:xfrm>
          <a:prstGeom prst="rect">
            <a:avLst/>
          </a:prstGeom>
          <a:noFill/>
        </p:spPr>
        <p:txBody>
          <a:bodyPr wrap="square">
            <a:spAutoFit/>
          </a:bodyPr>
          <a:lstStyle/>
          <a:p>
            <a:pPr marL="457200" marR="0" lvl="1" indent="0" algn="l" defTabSz="914400" rtl="0" eaLnBrk="0" fontAlgn="base" latinLnBrk="0" hangingPunct="0">
              <a:lnSpc>
                <a:spcPct val="150000"/>
              </a:lnSpc>
              <a:spcBef>
                <a:spcPct val="0"/>
              </a:spcBef>
              <a:spcAft>
                <a:spcPct val="0"/>
              </a:spcAft>
              <a:buClrTx/>
              <a:buSzTx/>
              <a:buFontTx/>
              <a:buNone/>
              <a:tabLst/>
              <a:defRPr/>
            </a:pPr>
            <a:r>
              <a:rPr kumimoji="0" lang="en-US" sz="3000" b="1" i="0" u="none" strike="noStrike" kern="1200" cap="none" spc="0" normalizeH="0" baseline="0" noProof="0" dirty="0">
                <a:ln>
                  <a:noFill/>
                </a:ln>
                <a:solidFill>
                  <a:srgbClr val="0070C0"/>
                </a:solidFill>
                <a:effectLst/>
                <a:uLnTx/>
                <a:uFillTx/>
                <a:latin typeface="Times New Roman"/>
                <a:ea typeface="+mn-ea"/>
                <a:cs typeface="Times New Roman"/>
              </a:rPr>
              <a:t>System Architecture:</a:t>
            </a:r>
          </a:p>
        </p:txBody>
      </p:sp>
      <p:pic>
        <p:nvPicPr>
          <p:cNvPr id="3" name="Picture 2">
            <a:extLst>
              <a:ext uri="{FF2B5EF4-FFF2-40B4-BE49-F238E27FC236}">
                <a16:creationId xmlns:a16="http://schemas.microsoft.com/office/drawing/2014/main" id="{EEA0030D-FAD4-B953-35DA-2792271A3E85}"/>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844040" y="701859"/>
            <a:ext cx="8260079" cy="6035040"/>
          </a:xfrm>
          <a:prstGeom prst="rect">
            <a:avLst/>
          </a:prstGeom>
        </p:spPr>
      </p:pic>
    </p:spTree>
    <p:extLst>
      <p:ext uri="{BB962C8B-B14F-4D97-AF65-F5344CB8AC3E}">
        <p14:creationId xmlns:p14="http://schemas.microsoft.com/office/powerpoint/2010/main" val="32105213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29E338F-2231-BD93-518A-EA90D2136C23}"/>
              </a:ext>
            </a:extLst>
          </p:cNvPr>
          <p:cNvSpPr>
            <a:spLocks noChangeArrowheads="1"/>
          </p:cNvSpPr>
          <p:nvPr/>
        </p:nvSpPr>
        <p:spPr bwMode="auto">
          <a:xfrm>
            <a:off x="0" y="-95474"/>
            <a:ext cx="12192000" cy="6500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50000"/>
              </a:lnSpc>
              <a:spcBef>
                <a:spcPct val="0"/>
              </a:spcBef>
              <a:spcAft>
                <a:spcPct val="0"/>
              </a:spcAft>
            </a:pPr>
            <a:r>
              <a:rPr lang="en-US" sz="4000" b="1" dirty="0">
                <a:solidFill>
                  <a:srgbClr val="FF0000"/>
                </a:solidFill>
                <a:latin typeface="Times New Roman" panose="02020603050405020304" pitchFamily="18" charset="0"/>
                <a:ea typeface="Calibri"/>
                <a:cs typeface="Times New Roman" panose="02020603050405020304" pitchFamily="18" charset="0"/>
              </a:rPr>
              <a:t> Implementation</a:t>
            </a:r>
          </a:p>
          <a:p>
            <a:pPr marL="800100" lvl="1" indent="-342900" algn="just" eaLnBrk="0" fontAlgn="base" hangingPunct="0">
              <a:lnSpc>
                <a:spcPct val="150000"/>
              </a:lnSpc>
              <a:spcBef>
                <a:spcPct val="0"/>
              </a:spcBef>
              <a:spcAft>
                <a:spcPct val="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system was implemented as an end-to-end full-stack platform, covering application development, AI model training, deployment, and production operations.</a:t>
            </a:r>
          </a:p>
          <a:p>
            <a:pPr marL="800100" lvl="1" indent="-342900" algn="just" eaLnBrk="0" fontAlgn="base" hangingPunct="0">
              <a:lnSpc>
                <a:spcPct val="150000"/>
              </a:lnSpc>
              <a:spcBef>
                <a:spcPct val="0"/>
              </a:spcBef>
              <a:spcAft>
                <a:spcPct val="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 </a:t>
            </a:r>
            <a:r>
              <a:rPr lang="en-US" sz="2000" dirty="0" err="1">
                <a:latin typeface="Times New Roman" panose="02020603050405020304" pitchFamily="18" charset="0"/>
                <a:cs typeface="Times New Roman" panose="02020603050405020304" pitchFamily="18" charset="0"/>
              </a:rPr>
              <a:t>monorepo</a:t>
            </a:r>
            <a:r>
              <a:rPr lang="en-US" sz="2000" dirty="0">
                <a:latin typeface="Times New Roman" panose="02020603050405020304" pitchFamily="18" charset="0"/>
                <a:cs typeface="Times New Roman" panose="02020603050405020304" pitchFamily="18" charset="0"/>
              </a:rPr>
              <a:t> architecture was adopted, separating frontend, backend, AI training, infrastructure, and automation scripts.</a:t>
            </a:r>
          </a:p>
          <a:p>
            <a:pPr marL="800100" lvl="1" indent="-342900" algn="just" eaLnBrk="0" fontAlgn="base" hangingPunct="0">
              <a:lnSpc>
                <a:spcPct val="150000"/>
              </a:lnSpc>
              <a:spcBef>
                <a:spcPct val="0"/>
              </a:spcBef>
              <a:spcAft>
                <a:spcPct val="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CI pipelines were configured for linting, unit testing, integration testing, container builds, and security vulnerability scans.</a:t>
            </a:r>
          </a:p>
          <a:p>
            <a:pPr marL="800100" lvl="1" indent="-342900" algn="just" eaLnBrk="0" fontAlgn="base" hangingPunct="0">
              <a:lnSpc>
                <a:spcPct val="150000"/>
              </a:lnSpc>
              <a:spcBef>
                <a:spcPct val="0"/>
              </a:spcBef>
              <a:spcAft>
                <a:spcPct val="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CD pipelines supported staged deployments using canary and blue–green strategies with automated rollback on failure.</a:t>
            </a:r>
          </a:p>
          <a:p>
            <a:pPr marL="800100" lvl="1" indent="-342900" algn="just" eaLnBrk="0" fontAlgn="base" hangingPunct="0">
              <a:lnSpc>
                <a:spcPct val="150000"/>
              </a:lnSpc>
              <a:spcBef>
                <a:spcPct val="0"/>
              </a:spcBef>
              <a:spcAft>
                <a:spcPct val="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Infrastructure utilized managed PostgreSQL, Redis, and object storage (S3) for persistence, caching, and media handling.</a:t>
            </a:r>
          </a:p>
          <a:p>
            <a:pPr marL="800100" lvl="1" indent="-342900" algn="just" eaLnBrk="0" fontAlgn="base" hangingPunct="0">
              <a:lnSpc>
                <a:spcPct val="150000"/>
              </a:lnSpc>
              <a:spcBef>
                <a:spcPct val="0"/>
              </a:spcBef>
              <a:spcAft>
                <a:spcPct val="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Autoscaling groups, load balancers, and CDN integration enabled high availability and global traffic distribution.</a:t>
            </a:r>
          </a:p>
        </p:txBody>
      </p:sp>
    </p:spTree>
    <p:extLst>
      <p:ext uri="{BB962C8B-B14F-4D97-AF65-F5344CB8AC3E}">
        <p14:creationId xmlns:p14="http://schemas.microsoft.com/office/powerpoint/2010/main" val="2549195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FBCF56A-E161-5353-EEA2-35206B8BD509}"/>
              </a:ext>
            </a:extLst>
          </p:cNvPr>
          <p:cNvSpPr txBox="1"/>
          <p:nvPr/>
        </p:nvSpPr>
        <p:spPr>
          <a:xfrm>
            <a:off x="0" y="0"/>
            <a:ext cx="12192000" cy="6500241"/>
          </a:xfrm>
          <a:prstGeom prst="rect">
            <a:avLst/>
          </a:prstGeom>
          <a:noFill/>
        </p:spPr>
        <p:txBody>
          <a:bodyPr wrap="square">
            <a:spAutoFit/>
          </a:bodyPr>
          <a:lstStyle/>
          <a:p>
            <a:pPr marL="800100" lvl="1" indent="-342900" algn="just" eaLnBrk="0" fontAlgn="base" hangingPunct="0">
              <a:lnSpc>
                <a:spcPct val="150000"/>
              </a:lnSpc>
              <a:spcBef>
                <a:spcPct val="0"/>
              </a:spcBef>
              <a:spcAft>
                <a:spcPct val="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AI agents were trained offline using synthetic data generation pipelines to simulate large-scale hiring scenarios.</a:t>
            </a:r>
          </a:p>
          <a:p>
            <a:pPr marL="800100" lvl="1" indent="-342900" algn="just" eaLnBrk="0" fontAlgn="base" hangingPunct="0">
              <a:lnSpc>
                <a:spcPct val="150000"/>
              </a:lnSpc>
              <a:spcBef>
                <a:spcPct val="0"/>
              </a:spcBef>
              <a:spcAft>
                <a:spcPct val="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Resume data passed through feature pipelines including parsing, normalization, TF-IDF/BM25 vectorization, and embedding generation.</a:t>
            </a:r>
          </a:p>
          <a:p>
            <a:pPr marL="800100" lvl="1" indent="-342900" algn="just" eaLnBrk="0" fontAlgn="base" hangingPunct="0">
              <a:lnSpc>
                <a:spcPct val="150000"/>
              </a:lnSpc>
              <a:spcBef>
                <a:spcPct val="0"/>
              </a:spcBef>
              <a:spcAft>
                <a:spcPct val="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Interview Agent</a:t>
            </a:r>
            <a:r>
              <a:rPr lang="en-US" sz="2000" dirty="0">
                <a:latin typeface="Times New Roman" panose="02020603050405020304" pitchFamily="18" charset="0"/>
                <a:cs typeface="Times New Roman" panose="02020603050405020304" pitchFamily="18" charset="0"/>
              </a:rPr>
              <a:t> was implemented using Q-Learning with discrete state quantization, ε-greedy exploration, and experience replay.</a:t>
            </a:r>
          </a:p>
          <a:p>
            <a:pPr marL="800100" lvl="1" indent="-342900" algn="just" eaLnBrk="0" fontAlgn="base" hangingPunct="0">
              <a:lnSpc>
                <a:spcPct val="150000"/>
              </a:lnSpc>
              <a:spcBef>
                <a:spcPct val="0"/>
              </a:spcBef>
              <a:spcAft>
                <a:spcPct val="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ATS agents combined </a:t>
            </a:r>
            <a:r>
              <a:rPr lang="en-US" sz="2000" b="1" dirty="0">
                <a:latin typeface="Times New Roman" panose="02020603050405020304" pitchFamily="18" charset="0"/>
                <a:cs typeface="Times New Roman" panose="02020603050405020304" pitchFamily="18" charset="0"/>
              </a:rPr>
              <a:t>NLP feature extraction</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reinforcement learning decision policies</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neural network validation models</a:t>
            </a:r>
            <a:r>
              <a:rPr lang="en-US" sz="2000" dirty="0">
                <a:latin typeface="Times New Roman" panose="02020603050405020304" pitchFamily="18" charset="0"/>
                <a:cs typeface="Times New Roman" panose="02020603050405020304" pitchFamily="18" charset="0"/>
              </a:rPr>
              <a:t>.</a:t>
            </a:r>
          </a:p>
          <a:p>
            <a:pPr marL="800100" lvl="1" indent="-342900" algn="just" eaLnBrk="0" fontAlgn="base" hangingPunct="0">
              <a:lnSpc>
                <a:spcPct val="150000"/>
              </a:lnSpc>
              <a:spcBef>
                <a:spcPct val="0"/>
              </a:spcBef>
              <a:spcAft>
                <a:spcPct val="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Model artifacts were versioned with dataset identifiers, training parameters, and provenance metadata stored in object storage.</a:t>
            </a:r>
          </a:p>
          <a:p>
            <a:pPr marL="800100" lvl="1" indent="-342900" algn="just" eaLnBrk="0" fontAlgn="base" hangingPunct="0">
              <a:lnSpc>
                <a:spcPct val="150000"/>
              </a:lnSpc>
              <a:spcBef>
                <a:spcPct val="0"/>
              </a:spcBef>
              <a:spcAft>
                <a:spcPct val="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Worker services handled video processing, speech-to-text transcription, </a:t>
            </a:r>
            <a:r>
              <a:rPr lang="en-US" sz="2000" dirty="0" err="1">
                <a:latin typeface="Times New Roman" panose="02020603050405020304" pitchFamily="18" charset="0"/>
                <a:cs typeface="Times New Roman" panose="02020603050405020304" pitchFamily="18" charset="0"/>
              </a:rPr>
              <a:t>MediaPipe</a:t>
            </a:r>
            <a:r>
              <a:rPr lang="en-US" sz="2000" dirty="0">
                <a:latin typeface="Times New Roman" panose="02020603050405020304" pitchFamily="18" charset="0"/>
                <a:cs typeface="Times New Roman" panose="02020603050405020304" pitchFamily="18" charset="0"/>
              </a:rPr>
              <a:t>-based facial analysis, and model inference.</a:t>
            </a:r>
          </a:p>
          <a:p>
            <a:pPr marL="800100" lvl="1" indent="-342900" algn="just" eaLnBrk="0" fontAlgn="base" hangingPunct="0">
              <a:lnSpc>
                <a:spcPct val="150000"/>
              </a:lnSpc>
              <a:spcBef>
                <a:spcPct val="0"/>
              </a:spcBef>
              <a:spcAft>
                <a:spcPct val="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Security, monitoring, and operations were ensured through TLS encryption, RBAC, schema-level input validation, centralized logging, metrics monitoring, and automated backups.</a:t>
            </a:r>
          </a:p>
        </p:txBody>
      </p:sp>
    </p:spTree>
    <p:extLst>
      <p:ext uri="{BB962C8B-B14F-4D97-AF65-F5344CB8AC3E}">
        <p14:creationId xmlns:p14="http://schemas.microsoft.com/office/powerpoint/2010/main" val="17056058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1DDA761-D488-2FFE-64D2-56A34608F338}"/>
              </a:ext>
            </a:extLst>
          </p:cNvPr>
          <p:cNvSpPr txBox="1"/>
          <p:nvPr/>
        </p:nvSpPr>
        <p:spPr>
          <a:xfrm>
            <a:off x="175550" y="-127322"/>
            <a:ext cx="6094070" cy="905056"/>
          </a:xfrm>
          <a:prstGeom prst="rect">
            <a:avLst/>
          </a:prstGeom>
          <a:noFill/>
        </p:spPr>
        <p:txBody>
          <a:bodyPr wrap="square">
            <a:spAutoFit/>
          </a:bodyPr>
          <a:lstStyle/>
          <a:p>
            <a:pPr algn="just" eaLnBrk="0" fontAlgn="base" hangingPunct="0">
              <a:lnSpc>
                <a:spcPct val="150000"/>
              </a:lnSpc>
              <a:spcBef>
                <a:spcPct val="0"/>
              </a:spcBef>
              <a:spcAft>
                <a:spcPct val="0"/>
              </a:spcAft>
            </a:pPr>
            <a:r>
              <a:rPr lang="en-US" sz="4000" b="1" dirty="0">
                <a:solidFill>
                  <a:srgbClr val="FF0000"/>
                </a:solidFill>
                <a:latin typeface="Times New Roman" panose="02020603050405020304" pitchFamily="18" charset="0"/>
                <a:cs typeface="Times New Roman" panose="02020603050405020304" pitchFamily="18" charset="0"/>
              </a:rPr>
              <a:t>Result</a:t>
            </a:r>
            <a:endParaRPr kumimoji="0" lang="en-US" altLang="en-US" sz="400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106FE712-0D20-8292-3572-7DCA6FF2B0EE}"/>
              </a:ext>
            </a:extLst>
          </p:cNvPr>
          <p:cNvSpPr txBox="1"/>
          <p:nvPr/>
        </p:nvSpPr>
        <p:spPr>
          <a:xfrm>
            <a:off x="-21220" y="615914"/>
            <a:ext cx="6117220" cy="498663"/>
          </a:xfrm>
          <a:prstGeom prst="rect">
            <a:avLst/>
          </a:prstGeom>
          <a:noFill/>
        </p:spPr>
        <p:txBody>
          <a:bodyPr wrap="square">
            <a:spAutoFit/>
          </a:bodyPr>
          <a:lstStyle/>
          <a:p>
            <a:pPr lvl="1" eaLnBrk="0" fontAlgn="base" hangingPunct="0">
              <a:lnSpc>
                <a:spcPct val="150000"/>
              </a:lnSpc>
              <a:spcBef>
                <a:spcPct val="0"/>
              </a:spcBef>
              <a:spcAft>
                <a:spcPct val="0"/>
              </a:spcAft>
            </a:pPr>
            <a:r>
              <a:rPr lang="en-US" sz="2000" b="1" dirty="0">
                <a:latin typeface="Times New Roman"/>
                <a:cs typeface="Times New Roman"/>
              </a:rPr>
              <a:t>Resume Builder:</a:t>
            </a:r>
          </a:p>
        </p:txBody>
      </p:sp>
      <p:pic>
        <p:nvPicPr>
          <p:cNvPr id="7" name="Picture 6">
            <a:extLst>
              <a:ext uri="{FF2B5EF4-FFF2-40B4-BE49-F238E27FC236}">
                <a16:creationId xmlns:a16="http://schemas.microsoft.com/office/drawing/2014/main" id="{8BCD0F6D-33FA-E4C9-862D-94F42391B6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7549" y="1241899"/>
            <a:ext cx="10664142" cy="521634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5742057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5C68610-34F5-3AAF-FEF6-977FBC6BB2BC}"/>
              </a:ext>
            </a:extLst>
          </p:cNvPr>
          <p:cNvSpPr txBox="1"/>
          <p:nvPr/>
        </p:nvSpPr>
        <p:spPr>
          <a:xfrm>
            <a:off x="-193876" y="89266"/>
            <a:ext cx="6094070" cy="498663"/>
          </a:xfrm>
          <a:prstGeom prst="rect">
            <a:avLst/>
          </a:prstGeom>
          <a:noFill/>
        </p:spPr>
        <p:txBody>
          <a:bodyPr wrap="square">
            <a:spAutoFit/>
          </a:bodyPr>
          <a:lstStyle/>
          <a:p>
            <a:pPr lvl="1" eaLnBrk="0" fontAlgn="base" hangingPunct="0">
              <a:lnSpc>
                <a:spcPct val="150000"/>
              </a:lnSpc>
              <a:spcBef>
                <a:spcPct val="0"/>
              </a:spcBef>
              <a:spcAft>
                <a:spcPct val="0"/>
              </a:spcAft>
            </a:pPr>
            <a:r>
              <a:rPr lang="en-US" sz="2000" b="1" dirty="0">
                <a:latin typeface="Times New Roman"/>
                <a:cs typeface="Times New Roman"/>
              </a:rPr>
              <a:t>ATS Machine:</a:t>
            </a:r>
          </a:p>
        </p:txBody>
      </p:sp>
      <p:pic>
        <p:nvPicPr>
          <p:cNvPr id="5" name="Picture 4">
            <a:extLst>
              <a:ext uri="{FF2B5EF4-FFF2-40B4-BE49-F238E27FC236}">
                <a16:creationId xmlns:a16="http://schemas.microsoft.com/office/drawing/2014/main" id="{81DC89BE-B1B7-B593-921D-63B4B65DA0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8151" y="856526"/>
            <a:ext cx="11075697" cy="543843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4793919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AAC235C-14EC-47A4-2709-F8B1A37250EA}"/>
              </a:ext>
            </a:extLst>
          </p:cNvPr>
          <p:cNvSpPr txBox="1"/>
          <p:nvPr/>
        </p:nvSpPr>
        <p:spPr>
          <a:xfrm>
            <a:off x="-147577" y="0"/>
            <a:ext cx="6094070" cy="498663"/>
          </a:xfrm>
          <a:prstGeom prst="rect">
            <a:avLst/>
          </a:prstGeom>
          <a:noFill/>
        </p:spPr>
        <p:txBody>
          <a:bodyPr wrap="square">
            <a:spAutoFit/>
          </a:bodyPr>
          <a:lstStyle/>
          <a:p>
            <a:pPr lvl="1" eaLnBrk="0" fontAlgn="base" hangingPunct="0">
              <a:lnSpc>
                <a:spcPct val="150000"/>
              </a:lnSpc>
              <a:spcBef>
                <a:spcPct val="0"/>
              </a:spcBef>
              <a:spcAft>
                <a:spcPct val="0"/>
              </a:spcAft>
            </a:pPr>
            <a:r>
              <a:rPr lang="en-US" sz="2000" b="1" dirty="0">
                <a:latin typeface="Times New Roman"/>
                <a:cs typeface="Times New Roman"/>
              </a:rPr>
              <a:t>AI Interview Module:</a:t>
            </a:r>
          </a:p>
        </p:txBody>
      </p:sp>
      <p:pic>
        <p:nvPicPr>
          <p:cNvPr id="5" name="Picture 4">
            <a:extLst>
              <a:ext uri="{FF2B5EF4-FFF2-40B4-BE49-F238E27FC236}">
                <a16:creationId xmlns:a16="http://schemas.microsoft.com/office/drawing/2014/main" id="{23A580DC-37EE-9A7D-8F9A-757E25A5DA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6908" y="721413"/>
            <a:ext cx="11158183" cy="541517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3642355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B6BEEBD-F508-1F9E-1E6A-A23767283275}"/>
              </a:ext>
            </a:extLst>
          </p:cNvPr>
          <p:cNvSpPr txBox="1"/>
          <p:nvPr/>
        </p:nvSpPr>
        <p:spPr>
          <a:xfrm>
            <a:off x="0" y="-97169"/>
            <a:ext cx="12192000" cy="6500306"/>
          </a:xfrm>
          <a:prstGeom prst="rect">
            <a:avLst/>
          </a:prstGeom>
          <a:noFill/>
        </p:spPr>
        <p:txBody>
          <a:bodyPr wrap="square">
            <a:spAutoFit/>
          </a:bodyPr>
          <a:lstStyle/>
          <a:p>
            <a:pPr algn="just">
              <a:lnSpc>
                <a:spcPct val="150000"/>
              </a:lnSpc>
            </a:pPr>
            <a:r>
              <a:rPr lang="en-IN" sz="4000" b="1" dirty="0">
                <a:solidFill>
                  <a:srgbClr val="FF0000"/>
                </a:solidFill>
                <a:latin typeface="Times New Roman" panose="02020603050405020304" pitchFamily="18" charset="0"/>
                <a:cs typeface="Times New Roman" panose="02020603050405020304" pitchFamily="18" charset="0"/>
              </a:rPr>
              <a:t> Conclusion</a:t>
            </a:r>
            <a:endParaRPr lang="en-US" sz="4000" dirty="0">
              <a:solidFill>
                <a:srgbClr val="FF0000"/>
              </a:solidFill>
              <a:latin typeface="Times New Roman" panose="02020603050405020304" pitchFamily="18" charset="0"/>
              <a:cs typeface="Times New Roman" panose="02020603050405020304" pitchFamily="18" charset="0"/>
            </a:endParaRPr>
          </a:p>
          <a:p>
            <a:pPr marL="742950" lvl="1" indent="-28575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project successfully delivers an AI-enabled recruitment system integrating interview simulation and ATS evaluation within a unified platform.</a:t>
            </a:r>
          </a:p>
          <a:p>
            <a:pPr marL="742950" lvl="1" indent="-28575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 multi-agent architecture was implemented comprising one Q-Learning interview agent (87,846 states, 2.5+ billion question combinations) and three collaborative ATS agents.</a:t>
            </a:r>
          </a:p>
          <a:p>
            <a:pPr marL="742950" lvl="1" indent="-28575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ATS agent ensemble achieved </a:t>
            </a:r>
            <a:r>
              <a:rPr lang="en-US" sz="2000" b="1" dirty="0">
                <a:latin typeface="Times New Roman" panose="02020603050405020304" pitchFamily="18" charset="0"/>
                <a:cs typeface="Times New Roman" panose="02020603050405020304" pitchFamily="18" charset="0"/>
              </a:rPr>
              <a:t>94.7% hiring decision accuracy</a:t>
            </a:r>
            <a:r>
              <a:rPr lang="en-US" sz="2000" dirty="0">
                <a:latin typeface="Times New Roman" panose="02020603050405020304" pitchFamily="18" charset="0"/>
                <a:cs typeface="Times New Roman" panose="02020603050405020304" pitchFamily="18" charset="0"/>
              </a:rPr>
              <a:t> through coordinated reinforcement learning and neural network–based evaluation.</a:t>
            </a:r>
          </a:p>
          <a:p>
            <a:pPr marL="742950" lvl="1" indent="-28575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system consistently maintained </a:t>
            </a:r>
            <a:r>
              <a:rPr lang="en-US" sz="2000" b="1" dirty="0">
                <a:latin typeface="Times New Roman" panose="02020603050405020304" pitchFamily="18" charset="0"/>
                <a:cs typeface="Times New Roman" panose="02020603050405020304" pitchFamily="18" charset="0"/>
              </a:rPr>
              <a:t>sub-10 millisecond response latency</a:t>
            </a:r>
            <a:r>
              <a:rPr lang="en-US" sz="2000" dirty="0">
                <a:latin typeface="Times New Roman" panose="02020603050405020304" pitchFamily="18" charset="0"/>
                <a:cs typeface="Times New Roman" panose="02020603050405020304" pitchFamily="18" charset="0"/>
              </a:rPr>
              <a:t>, demonstrating nearly </a:t>
            </a:r>
            <a:r>
              <a:rPr lang="en-US" sz="2000" b="1" dirty="0">
                <a:latin typeface="Times New Roman" panose="02020603050405020304" pitchFamily="18" charset="0"/>
                <a:cs typeface="Times New Roman" panose="02020603050405020304" pitchFamily="18" charset="0"/>
              </a:rPr>
              <a:t>100× performance improvement</a:t>
            </a:r>
            <a:r>
              <a:rPr lang="en-US" sz="2000" dirty="0">
                <a:latin typeface="Times New Roman" panose="02020603050405020304" pitchFamily="18" charset="0"/>
                <a:cs typeface="Times New Roman" panose="02020603050405020304" pitchFamily="18" charset="0"/>
              </a:rPr>
              <a:t> over cloud-based AI solutions.</a:t>
            </a:r>
          </a:p>
          <a:p>
            <a:pPr marL="742950" lvl="1" indent="-28575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Complete elimination of external AI services enabled </a:t>
            </a:r>
            <a:r>
              <a:rPr lang="en-US" sz="2000" b="1" dirty="0">
                <a:latin typeface="Times New Roman" panose="02020603050405020304" pitchFamily="18" charset="0"/>
                <a:cs typeface="Times New Roman" panose="02020603050405020304" pitchFamily="18" charset="0"/>
              </a:rPr>
              <a:t>zero per-operation cost</a:t>
            </a:r>
            <a:r>
              <a:rPr lang="en-US" sz="2000" dirty="0">
                <a:latin typeface="Times New Roman" panose="02020603050405020304" pitchFamily="18" charset="0"/>
                <a:cs typeface="Times New Roman" panose="02020603050405020304" pitchFamily="18" charset="0"/>
              </a:rPr>
              <a:t>, unrestricted scalability, and full algorithmic control.</a:t>
            </a:r>
          </a:p>
          <a:p>
            <a:pPr marL="742950" lvl="1" indent="-28575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Enterprise-grade security was ensured through OWASP Top 10 mitigation, encrypted communication, strong authentication, and regulatory compliance</a:t>
            </a:r>
          </a:p>
        </p:txBody>
      </p:sp>
    </p:spTree>
    <p:extLst>
      <p:ext uri="{BB962C8B-B14F-4D97-AF65-F5344CB8AC3E}">
        <p14:creationId xmlns:p14="http://schemas.microsoft.com/office/powerpoint/2010/main" val="39719461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E547079-D527-0ABC-40D2-FEE6834A6D04}"/>
              </a:ext>
            </a:extLst>
          </p:cNvPr>
          <p:cNvSpPr txBox="1"/>
          <p:nvPr/>
        </p:nvSpPr>
        <p:spPr>
          <a:xfrm>
            <a:off x="0" y="2921168"/>
            <a:ext cx="12192000" cy="1015663"/>
          </a:xfrm>
          <a:prstGeom prst="rect">
            <a:avLst/>
          </a:prstGeom>
          <a:noFill/>
        </p:spPr>
        <p:txBody>
          <a:bodyPr wrap="square" lIns="91440" tIns="45720" rIns="91440" bIns="45720" anchor="t">
            <a:spAutoFit/>
          </a:bodyPr>
          <a:lstStyle/>
          <a:p>
            <a:pPr lvl="8"/>
            <a:r>
              <a:rPr lang="en-US" sz="6000" b="1" dirty="0">
                <a:latin typeface="Times New Roman"/>
                <a:cs typeface="Times New Roman"/>
              </a:rPr>
              <a:t> Thank You!</a:t>
            </a:r>
          </a:p>
        </p:txBody>
      </p:sp>
    </p:spTree>
    <p:extLst>
      <p:ext uri="{BB962C8B-B14F-4D97-AF65-F5344CB8AC3E}">
        <p14:creationId xmlns:p14="http://schemas.microsoft.com/office/powerpoint/2010/main" val="34575113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F6C8F99-CC93-E8B8-1042-E94B1F4DB74D}"/>
              </a:ext>
            </a:extLst>
          </p:cNvPr>
          <p:cNvSpPr txBox="1"/>
          <p:nvPr/>
        </p:nvSpPr>
        <p:spPr>
          <a:xfrm>
            <a:off x="1" y="2921168"/>
            <a:ext cx="12192000" cy="1015663"/>
          </a:xfrm>
          <a:prstGeom prst="rect">
            <a:avLst/>
          </a:prstGeom>
          <a:noFill/>
        </p:spPr>
        <p:txBody>
          <a:bodyPr wrap="square" lIns="91440" tIns="45720" rIns="91440" bIns="45720" anchor="t">
            <a:spAutoFit/>
          </a:bodyPr>
          <a:lstStyle/>
          <a:p>
            <a:pPr lvl="8"/>
            <a:r>
              <a:rPr lang="en-IN" sz="6000" b="1" dirty="0">
                <a:latin typeface="Times New Roman"/>
                <a:cs typeface="Times New Roman"/>
              </a:rPr>
              <a:t> Any Queries? </a:t>
            </a:r>
            <a:endParaRPr lang="en-US" sz="6000" b="1" dirty="0">
              <a:latin typeface="Times New Roman"/>
              <a:cs typeface="Times New Roman"/>
            </a:endParaRPr>
          </a:p>
        </p:txBody>
      </p:sp>
    </p:spTree>
    <p:extLst>
      <p:ext uri="{BB962C8B-B14F-4D97-AF65-F5344CB8AC3E}">
        <p14:creationId xmlns:p14="http://schemas.microsoft.com/office/powerpoint/2010/main" val="1144654965"/>
      </p:ext>
    </p:extLst>
  </p:cSld>
  <p:clrMapOvr>
    <a:masterClrMapping/>
  </p:clrMapOvr>
</p:sld>
</file>

<file path=ppt/theme/theme1.xml><?xml version="1.0" encoding="utf-8"?>
<a:theme xmlns:a="http://schemas.openxmlformats.org/drawingml/2006/main" name="Atlas">
  <a:themeElements>
    <a:clrScheme name="Atlas">
      <a:dk1>
        <a:sysClr val="windowText" lastClr="000000"/>
      </a:dk1>
      <a:lt1>
        <a:sysClr val="window" lastClr="FFFFFF"/>
      </a:lt1>
      <a:dk2>
        <a:srgbClr val="454545"/>
      </a:dk2>
      <a:lt2>
        <a:srgbClr val="E0E0E0"/>
      </a:lt2>
      <a:accent1>
        <a:srgbClr val="F81B02"/>
      </a:accent1>
      <a:accent2>
        <a:srgbClr val="FC7715"/>
      </a:accent2>
      <a:accent3>
        <a:srgbClr val="AFBF41"/>
      </a:accent3>
      <a:accent4>
        <a:srgbClr val="50C49F"/>
      </a:accent4>
      <a:accent5>
        <a:srgbClr val="3B95C4"/>
      </a:accent5>
      <a:accent6>
        <a:srgbClr val="B560D4"/>
      </a:accent6>
      <a:hlink>
        <a:srgbClr val="FC5A1A"/>
      </a:hlink>
      <a:folHlink>
        <a:srgbClr val="B49E74"/>
      </a:folHlink>
    </a:clrScheme>
    <a:fontScheme name="Atlas">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tlas">
      <a:fillStyleLst>
        <a:solidFill>
          <a:schemeClr val="phClr"/>
        </a:solidFill>
        <a:gradFill rotWithShape="1">
          <a:gsLst>
            <a:gs pos="0">
              <a:schemeClr val="phClr">
                <a:tint val="62000"/>
                <a:alpha val="60000"/>
                <a:satMod val="109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hade val="90000"/>
            </a:schemeClr>
          </a:solidFill>
          <a:prstDash val="solid"/>
        </a:ln>
        <a:ln w="15875" cap="flat" cmpd="sng" algn="ctr">
          <a:solidFill>
            <a:schemeClr val="phClr">
              <a:shade val="90000"/>
            </a:scheme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38100" dist="25400" dir="5400000" rotWithShape="0">
              <a:srgbClr val="000000">
                <a:alpha val="75000"/>
              </a:srgbClr>
            </a:outerShdw>
          </a:effectLst>
          <a:scene3d>
            <a:camera prst="orthographicFront">
              <a:rot lat="0" lon="0" rev="0"/>
            </a:camera>
            <a:lightRig rig="threePt" dir="tl"/>
          </a:scene3d>
          <a:sp3d>
            <a:bevelT w="0" h="0"/>
          </a:sp3d>
        </a:effectStyle>
      </a:effectStyleLst>
      <a:bgFillStyleLst>
        <a:solidFill>
          <a:schemeClr val="phClr"/>
        </a:solidFill>
        <a:solidFill>
          <a:schemeClr val="phClr"/>
        </a:solidFill>
        <a:gradFill rotWithShape="1">
          <a:gsLst>
            <a:gs pos="10000">
              <a:schemeClr val="phClr">
                <a:tint val="94000"/>
                <a:lumMod val="116000"/>
              </a:schemeClr>
            </a:gs>
            <a:gs pos="100000">
              <a:schemeClr val="phClr">
                <a:tint val="98000"/>
                <a:shade val="86000"/>
                <a:satMod val="90000"/>
                <a:lumMod val="88000"/>
              </a:schemeClr>
            </a:gs>
          </a:gsLst>
          <a:path path="circle">
            <a:fillToRect l="50000" t="15000" r="50000" b="169000"/>
          </a:path>
        </a:gradFill>
      </a:bgFillStyleLst>
    </a:fmtScheme>
  </a:themeElements>
  <a:objectDefaults/>
  <a:extraClrSchemeLst/>
  <a:extLst>
    <a:ext uri="{05A4C25C-085E-4340-85A3-A5531E510DB2}">
      <thm15:themeFamily xmlns:thm15="http://schemas.microsoft.com/office/thememl/2012/main" name="Atlas" id="{5156B0E4-0EB1-49FE-A26B-15F6F698AEC6}" vid="{508F7963-D0B5-43F7-BB2C-FCE3009C08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1568</TotalTime>
  <Words>1933</Words>
  <Application>Microsoft Office PowerPoint</Application>
  <PresentationFormat>Widescreen</PresentationFormat>
  <Paragraphs>161</Paragraphs>
  <Slides>27</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Aptos</vt:lpstr>
      <vt:lpstr>Arial</vt:lpstr>
      <vt:lpstr>Calibri Light</vt:lpstr>
      <vt:lpstr>Montserrat</vt:lpstr>
      <vt:lpstr>Rockwell</vt:lpstr>
      <vt:lpstr>Times New Roman</vt:lpstr>
      <vt:lpstr>Wingdings</vt:lpstr>
      <vt:lpstr>Atlas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SlideEgg</dc:creator>
  <cp:lastModifiedBy>SANDEEP KUMAR AKULA</cp:lastModifiedBy>
  <cp:revision>538</cp:revision>
  <dcterms:created xsi:type="dcterms:W3CDTF">2023-06-27T03:48:36Z</dcterms:created>
  <dcterms:modified xsi:type="dcterms:W3CDTF">2026-01-29T12:39:03Z</dcterms:modified>
</cp:coreProperties>
</file>